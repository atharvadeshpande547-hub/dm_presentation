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c755e2-f5f5-eadf-0ae5-9c3efef31b93}">
          <p14:sldIdLst>
            <p14:sldId id="256"/>
            <p14:sldId id="257"/>
            <p14:sldId id="258"/>
          </p14:sldIdLst>
        </p14:section>
        <p14:section name="Model and Theorem" id="{478dcfc7-a29e-e2c2-96e8-380bf207e1e0}">
          <p14:sldIdLst>
            <p14:sldId id="259"/>
            <p14:sldId id="260"/>
          </p14:sldIdLst>
        </p14:section>
        <p14:section name="Solution" id="{5f04996a-1b02-c9e3-178c-13e0b64e71a8}">
          <p14:sldIdLst>
            <p14:sldId id="261"/>
            <p14:sldId id="262"/>
            <p14:sldId id="263"/>
            <p14:sldId id="264"/>
            <p14:sldId id="265"/>
          </p14:sldIdLst>
        </p14:section>
        <p14:section name="Wrap-up" id="{870d1185-a40a-b182-0527-8bf7ebae5a92}">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Traffic Signal Synchronization, an application of the Chinese Remainder Theorem. I will show how a real-looking scheduling question becomes a modular arithmetic problem, solve it step by step, and then be honest about what the model does and does not capture. [Fill in your name, roll number, subject, guide and college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imagine three traffic signals, each repeating its own cycle. Signal A repeats every 3 minutes, B every 5, C every 7. We ask when all three are at the same point of their cycle together. I want to be clear from the start: 3, 5 and 7 minutes are made-up numbers chosen for a clean mathematical example. They are not measurements from a real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are the five steps on the left: understand periodic events, express them with modular arithmetic, apply CRT, find a common time, and verify it. The picture on the right shows three separate cycles meeting at one common time. Coordination between signals matters for traffic flow, but real traffic engineering also needs green durations, demand, pedestrian crossings and safety constraints. Our project only studies the timing-recurrence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 be the elapsed time in minutes. If a signal's full cycle restarts every m minutes and it starts at t = 0, then the cycle restarts exactly when t is a multiple of m, which is written t ≡ 0 (mod m). Modulo just means 'remainder after division'. Important assumption: we are tracking when a complete cycle restarts, not how long the green light stays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CRT in one line: if the moduli are pairwise coprime, a system of congruences has exactly one solution modulo the product M. Our moduli 3, 5, 7 are pairwise coprime because every pair has gcd 1, and the product is 105. The coprime condition matters: cycles 4 and 6 share the factor 2, so they line up every 12 minutes, not every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translation. Each signal's cycle length becomes a modulus, and 'all start a cycle at t = 0' makes every remainder zero. The table links the real-world signal to its equation. Each equation just says t is a multiple of the cycle length: multiples of 3 for A, 5 for B, 7 for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CRT recipe: compute M = 105, then each Mi = M / mi, which gives 35, 21 and 15. The formula adds up ai times Mi times yi, where yi is the modular inverse of Mi mod mi. In OUR example every ai is zero, so every term vanishes and CRT immediately gives t ≡ 0 (mod 105). I will not pretend inverses are needed. For completeness, the dashed box on the right is a separate example with non-zero remainders: t ≡ 2 mod 3, 3 mod 5, 2 mod 7 gives 23, which we can check: 23 leaves 2, 3, 2. That example is only to show how the general method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slide. Because t ≡ 0 modulo 3, 5 and 7, t must be divisible by all three numbers. Since 3, 5 and 7 are pairwise coprime, their LCM is simply the product: 3 × 5 × 7 = 105. So the signals' cycle starts coincide at t = 0 and then again every 105 minutes. The first strictly positive time is 105 minutes, which is 1 hour 45 minutes because 105 = 60 + 45. Why correct: any time divisible by 3, 5 and 7 must be a multiple of 105, so no smaller positive time can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coloured tick is a time when that signal's cycle restarts. Notice that the three rows line up only at 0 and at 105, marked by the dashed lines. To keep the slide readable I show only some of the values in the captions. Verification: 105 divided by 3 is 35, divided by 5 is 21, divided by 7 is 15, all exact, so 105 leaves remainder 0 for each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 start with result 1, then fold in each cycle length using the LCM, where LCM(a, b) = a × b ÷ GCD(a, b). For 3, 5, 7 the steps give 3, then 15, then 105. The Python code on the right is exactly this, with a short Euclid's GCD. Difference to remember: CRT is the general tool for any remainders; when every remainder is zero it collapses to the LCM and we need no modular inverses.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mathematics appears wherever repeating events must be coordinated: schedules, machine cycles, and clock synchronization models. But for traffic specifically, this is a simplified model. We assumed a shared start at t = 0 and ignored green durations and safety constraints. Real traffic optimization needs data and control strategies far beyond CRT, so I do not claim CRT alone can optimize a city's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result: cycles of 3, 5 and 7 minutes; LCM(3, 5, 7) = 105; so the first strictly positive simultaneous recurrence is 105 minutes, i.e. 1 hour 45 minutes. The insight: for pairwise coprime cycles the common period is the product of the cycle lengths. This holds under the assumptions stated: shared start at t = 0 and full-cycle recurrence. It is a mathematical result, not a claim about a deployed traffic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signal timing can be modeled with modular arithmetic; CRT is the general framework; in our zero-remainder example the LCM gives the first positive recurrence, 105 minutes; the idea is relevant to synchronization problems; and real traffic optimization needs a more complete model.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411480"/>
            <a:ext cx="521208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chemeClr val="accent5"/>
                </a:solidFill>
              </a:rPr>
              <a:t>Traffic Signal Synchronization using the Chinese Remainder Theorem</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1"/>
          <p:cNvSpPr/>
          <p:nvPr/>
        </p:nvSpPr>
        <p:spPr>
          <a:xfrm>
            <a:off x="457200" y="4818888"/>
            <a:ext cx="6400800" cy="228600"/>
          </a:xfrm>
          <a:prstGeom prst="rect">
            <a:avLst/>
          </a:prstGeom>
          <a:noFill/>
          <a:ln/>
        </p:spPr>
        <p:txBody>
          <a:bodyPr wrap="square" lIns="0" tIns="0" rIns="0" bIns="0" rtlCol="0" anchor="ctr"/>
          <a:lstStyle/>
          <a:p>
            <a:pPr indent="0" marL="0">
              <a:buNone/>
            </a:pPr>
            <a:r>
              <a:rPr lang="en-US" sz="1000" dirty="0">
                <a:solidFill>
                  <a:schemeClr val="bg2"/>
                </a:solidFill>
              </a:rPr>
              <a:t>Traffic Signal Synchronization using the Chinese Remainder Theorem</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457200" y="411480"/>
            <a:ext cx="5212080" cy="1371600"/>
          </a:xfrm>
          <a:prstGeom prst="rect">
            <a:avLst/>
          </a:prstGeom>
          <a:noFill/>
          <a:ln/>
        </p:spPr>
        <p:txBody>
          <a:bodyPr wrap="square" lIns="0" tIns="0" rIns="0" bIns="0" rtlCol="0" anchor="t"/>
          <a:lstStyle/>
          <a:p>
            <a:pPr algn="l" indent="0" marL="0">
              <a:buNone/>
            </a:pPr>
            <a:r>
              <a:rPr lang="en-US" sz="3600" b="1" dirty="0">
                <a:solidFill>
                  <a:schemeClr val="bg1"/>
                </a:solidFill>
              </a:rPr>
              <a:t>TRAFFIC SIGNAL SYNCHRONIZATION</a:t>
            </a:r>
            <a:endParaRPr lang="en-US" sz="3600" dirty="0"/>
          </a:p>
        </p:txBody>
      </p:sp>
      <p:sp>
        <p:nvSpPr>
          <p:cNvPr id="3" name="Text 1"/>
          <p:cNvSpPr txBox="1"/>
          <p:nvPr/>
        </p:nvSpPr>
        <p:spPr>
          <a:xfrm>
            <a:off x="457200" y="1828800"/>
            <a:ext cx="5212080" cy="548640"/>
          </a:xfrm>
          <a:prstGeom prst="rect">
            <a:avLst/>
          </a:prstGeom>
          <a:noFill/>
          <a:ln/>
        </p:spPr>
        <p:txBody>
          <a:bodyPr wrap="square" lIns="0" tIns="0" rIns="0" bIns="0" rtlCol="0" anchor="t"/>
          <a:lstStyle/>
          <a:p>
            <a:pPr indent="0" marL="0">
              <a:buNone/>
            </a:pPr>
            <a:r>
              <a:rPr lang="en-US" sz="1800" i="1" dirty="0">
                <a:solidFill>
                  <a:schemeClr val="accent2"/>
                </a:solidFill>
              </a:rPr>
              <a:t>An Application of the Chinese Remainder Theorem</a:t>
            </a:r>
            <a:endParaRPr lang="en-US" sz="1800" dirty="0"/>
          </a:p>
        </p:txBody>
      </p:sp>
      <p:sp>
        <p:nvSpPr>
          <p:cNvPr id="4" name="Text 2"/>
          <p:cNvSpPr txBox="1"/>
          <p:nvPr/>
        </p:nvSpPr>
        <p:spPr>
          <a:xfrm>
            <a:off x="457200" y="2560320"/>
            <a:ext cx="5212080" cy="2103120"/>
          </a:xfrm>
          <a:prstGeom prst="rect">
            <a:avLst/>
          </a:prstGeom>
          <a:noFill/>
          <a:ln/>
        </p:spPr>
        <p:txBody>
          <a:bodyPr wrap="square" lIns="0" tIns="0" rIns="0" bIns="0" rtlCol="0" anchor="t"/>
          <a:lstStyle/>
          <a:p>
            <a:pPr indent="0" marL="0">
              <a:spcAft>
                <a:spcPts val="300"/>
              </a:spcAft>
              <a:buNone/>
            </a:pPr>
            <a:r>
              <a:rPr lang="en-US" sz="1400" dirty="0">
                <a:solidFill>
                  <a:schemeClr val="bg1"/>
                </a:solidFill>
              </a:rPr>
              <a:t>Presented by:  [Student Name]</a:t>
            </a:r>
            <a:endParaRPr lang="en-US" sz="1400" dirty="0"/>
          </a:p>
          <a:p>
            <a:pPr indent="0" marL="0">
              <a:spcAft>
                <a:spcPts val="300"/>
              </a:spcAft>
              <a:buNone/>
            </a:pPr>
            <a:r>
              <a:rPr lang="en-US" sz="1400" dirty="0">
                <a:solidFill>
                  <a:schemeClr val="bg1"/>
                </a:solidFill>
              </a:rPr>
              <a:t>Roll Number:  [Roll Number]</a:t>
            </a:r>
            <a:endParaRPr lang="en-US" sz="1400" dirty="0"/>
          </a:p>
          <a:p>
            <a:pPr indent="0" marL="0">
              <a:spcAft>
                <a:spcPts val="300"/>
              </a:spcAft>
              <a:buNone/>
            </a:pPr>
            <a:r>
              <a:rPr lang="en-US" sz="1400" dirty="0">
                <a:solidFill>
                  <a:schemeClr val="bg1"/>
                </a:solidFill>
              </a:rPr>
              <a:t>Class:  SY Computer Engineering</a:t>
            </a:r>
            <a:endParaRPr lang="en-US" sz="1400" dirty="0"/>
          </a:p>
          <a:p>
            <a:pPr indent="0" marL="0">
              <a:spcAft>
                <a:spcPts val="300"/>
              </a:spcAft>
              <a:buNone/>
            </a:pPr>
            <a:r>
              <a:rPr lang="en-US" sz="1400" dirty="0">
                <a:solidFill>
                  <a:schemeClr val="bg1"/>
                </a:solidFill>
              </a:rPr>
              <a:t>Academic Year:  2026–2027</a:t>
            </a:r>
            <a:endParaRPr lang="en-US" sz="1400" dirty="0"/>
          </a:p>
          <a:p>
            <a:pPr indent="0" marL="0">
              <a:spcAft>
                <a:spcPts val="300"/>
              </a:spcAft>
              <a:buNone/>
            </a:pPr>
            <a:r>
              <a:rPr lang="en-US" sz="1400" dirty="0">
                <a:solidFill>
                  <a:schemeClr val="bg1"/>
                </a:solidFill>
              </a:rPr>
              <a:t>Subject:  [Subject Name]</a:t>
            </a:r>
            <a:endParaRPr lang="en-US" sz="1400" dirty="0"/>
          </a:p>
          <a:p>
            <a:pPr indent="0" marL="0">
              <a:spcAft>
                <a:spcPts val="300"/>
              </a:spcAft>
              <a:buNone/>
            </a:pPr>
            <a:r>
              <a:rPr lang="en-US" sz="1400" dirty="0">
                <a:solidFill>
                  <a:schemeClr val="bg1"/>
                </a:solidFill>
              </a:rPr>
              <a:t>Guided by:  [Faculty Name]</a:t>
            </a:r>
            <a:endParaRPr lang="en-US" sz="1400" dirty="0"/>
          </a:p>
          <a:p>
            <a:pPr indent="0" marL="0">
              <a:spcAft>
                <a:spcPts val="300"/>
              </a:spcAft>
              <a:buNone/>
            </a:pPr>
            <a:r>
              <a:rPr lang="en-US" sz="1400" dirty="0">
                <a:solidFill>
                  <a:schemeClr val="bg1"/>
                </a:solidFill>
              </a:rPr>
              <a:t>College:  [College Name]</a:t>
            </a:r>
            <a:endParaRPr lang="en-US" sz="1400" dirty="0"/>
          </a:p>
        </p:txBody>
      </p:sp>
      <p:sp>
        <p:nvSpPr>
          <p:cNvPr id="5" name="Signal panel"/>
          <p:cNvSpPr/>
          <p:nvPr/>
        </p:nvSpPr>
        <p:spPr>
          <a:xfrm>
            <a:off x="5943600" y="640080"/>
            <a:ext cx="2743200" cy="3840480"/>
          </a:xfrm>
          <a:prstGeom prst="roundRect">
            <a:avLst>
              <a:gd name="adj" fmla="val 4000"/>
            </a:avLst>
          </a:prstGeom>
          <a:solidFill>
            <a:schemeClr val="bg1">
              <a:alpha val="10000"/>
            </a:schemeClr>
          </a:solidFill>
          <a:ln w="12700">
            <a:solidFill>
              <a:schemeClr val="bg1">
                <a:alpha val="40000"/>
              </a:schemeClr>
            </a:solidFill>
            <a:prstDash val="solid"/>
          </a:ln>
        </p:spPr>
      </p:sp>
      <p:sp>
        <p:nvSpPr>
          <p:cNvPr id="6" name="Light A housing"/>
          <p:cNvSpPr/>
          <p:nvPr/>
        </p:nvSpPr>
        <p:spPr>
          <a:xfrm>
            <a:off x="6172200" y="914400"/>
            <a:ext cx="640080" cy="1737360"/>
          </a:xfrm>
          <a:prstGeom prst="roundRect">
            <a:avLst>
              <a:gd name="adj" fmla="val 30000"/>
            </a:avLst>
          </a:prstGeom>
          <a:solidFill>
            <a:schemeClr val="tx1"/>
          </a:solidFill>
          <a:ln w="19050">
            <a:solidFill>
              <a:schemeClr val="bg1"/>
            </a:solidFill>
            <a:prstDash val="solid"/>
          </a:ln>
        </p:spPr>
      </p:sp>
      <p:sp>
        <p:nvSpPr>
          <p:cNvPr id="7" name="Light A red"/>
          <p:cNvSpPr/>
          <p:nvPr/>
        </p:nvSpPr>
        <p:spPr>
          <a:xfrm>
            <a:off x="6293815" y="1063447"/>
            <a:ext cx="396850" cy="396850"/>
          </a:xfrm>
          <a:prstGeom prst="ellipse">
            <a:avLst/>
          </a:prstGeom>
          <a:solidFill>
            <a:schemeClr val="accent1"/>
          </a:solidFill>
          <a:ln/>
        </p:spPr>
      </p:sp>
      <p:sp>
        <p:nvSpPr>
          <p:cNvPr id="8" name="Light A amber"/>
          <p:cNvSpPr/>
          <p:nvPr/>
        </p:nvSpPr>
        <p:spPr>
          <a:xfrm>
            <a:off x="6293815" y="1584655"/>
            <a:ext cx="396850" cy="396850"/>
          </a:xfrm>
          <a:prstGeom prst="ellipse">
            <a:avLst/>
          </a:prstGeom>
          <a:solidFill>
            <a:schemeClr val="accent2"/>
          </a:solidFill>
          <a:ln/>
        </p:spPr>
      </p:sp>
      <p:sp>
        <p:nvSpPr>
          <p:cNvPr id="9" name="Light A green"/>
          <p:cNvSpPr/>
          <p:nvPr/>
        </p:nvSpPr>
        <p:spPr>
          <a:xfrm>
            <a:off x="6293815" y="2105863"/>
            <a:ext cx="396850" cy="396850"/>
          </a:xfrm>
          <a:prstGeom prst="ellipse">
            <a:avLst/>
          </a:prstGeom>
          <a:solidFill>
            <a:schemeClr val="accent3"/>
          </a:solidFill>
          <a:ln/>
        </p:spPr>
      </p:sp>
      <p:sp>
        <p:nvSpPr>
          <p:cNvPr id="10" name="Text 8"/>
          <p:cNvSpPr txBox="1"/>
          <p:nvPr/>
        </p:nvSpPr>
        <p:spPr>
          <a:xfrm>
            <a:off x="6080760" y="2834640"/>
            <a:ext cx="822960" cy="274320"/>
          </a:xfrm>
          <a:prstGeom prst="rect">
            <a:avLst/>
          </a:prstGeom>
          <a:noFill/>
          <a:ln/>
        </p:spPr>
        <p:txBody>
          <a:bodyPr wrap="square" lIns="0" tIns="0" rIns="0" bIns="0" rtlCol="0" anchor="ctr"/>
          <a:lstStyle/>
          <a:p>
            <a:pPr algn="ctr" indent="0" marL="0">
              <a:buNone/>
            </a:pPr>
            <a:r>
              <a:rPr lang="en-US" sz="1400" b="1" dirty="0">
                <a:solidFill>
                  <a:schemeClr val="bg1"/>
                </a:solidFill>
              </a:rPr>
              <a:t>Signal A</a:t>
            </a:r>
            <a:endParaRPr lang="en-US" sz="1400" dirty="0"/>
          </a:p>
        </p:txBody>
      </p:sp>
      <p:sp>
        <p:nvSpPr>
          <p:cNvPr id="11" name="Text 9"/>
          <p:cNvSpPr txBox="1"/>
          <p:nvPr/>
        </p:nvSpPr>
        <p:spPr>
          <a:xfrm>
            <a:off x="6080760" y="3108960"/>
            <a:ext cx="822960" cy="365760"/>
          </a:xfrm>
          <a:prstGeom prst="rect">
            <a:avLst/>
          </a:prstGeom>
          <a:noFill/>
          <a:ln/>
        </p:spPr>
        <p:txBody>
          <a:bodyPr wrap="square" lIns="0" tIns="0" rIns="0" bIns="0" rtlCol="0" anchor="ctr"/>
          <a:lstStyle/>
          <a:p>
            <a:pPr algn="ctr" indent="0" marL="0">
              <a:buNone/>
            </a:pPr>
            <a:r>
              <a:rPr lang="en-US" sz="2000" b="1" dirty="0">
                <a:solidFill>
                  <a:schemeClr val="accent2"/>
                </a:solidFill>
              </a:rPr>
              <a:t>3 min</a:t>
            </a:r>
            <a:endParaRPr lang="en-US" sz="2000" dirty="0"/>
          </a:p>
        </p:txBody>
      </p:sp>
      <p:sp>
        <p:nvSpPr>
          <p:cNvPr id="12" name="Light B housing"/>
          <p:cNvSpPr/>
          <p:nvPr/>
        </p:nvSpPr>
        <p:spPr>
          <a:xfrm>
            <a:off x="6995160" y="914400"/>
            <a:ext cx="640080" cy="1737360"/>
          </a:xfrm>
          <a:prstGeom prst="roundRect">
            <a:avLst>
              <a:gd name="adj" fmla="val 30000"/>
            </a:avLst>
          </a:prstGeom>
          <a:solidFill>
            <a:schemeClr val="tx1"/>
          </a:solidFill>
          <a:ln w="19050">
            <a:solidFill>
              <a:schemeClr val="bg1"/>
            </a:solidFill>
            <a:prstDash val="solid"/>
          </a:ln>
        </p:spPr>
      </p:sp>
      <p:sp>
        <p:nvSpPr>
          <p:cNvPr id="13" name="Light B red"/>
          <p:cNvSpPr/>
          <p:nvPr/>
        </p:nvSpPr>
        <p:spPr>
          <a:xfrm>
            <a:off x="7116775" y="1063447"/>
            <a:ext cx="396850" cy="396850"/>
          </a:xfrm>
          <a:prstGeom prst="ellipse">
            <a:avLst/>
          </a:prstGeom>
          <a:solidFill>
            <a:schemeClr val="accent1"/>
          </a:solidFill>
          <a:ln/>
        </p:spPr>
      </p:sp>
      <p:sp>
        <p:nvSpPr>
          <p:cNvPr id="14" name="Light B amber"/>
          <p:cNvSpPr/>
          <p:nvPr/>
        </p:nvSpPr>
        <p:spPr>
          <a:xfrm>
            <a:off x="7116775" y="1584655"/>
            <a:ext cx="396850" cy="396850"/>
          </a:xfrm>
          <a:prstGeom prst="ellipse">
            <a:avLst/>
          </a:prstGeom>
          <a:solidFill>
            <a:schemeClr val="accent2"/>
          </a:solidFill>
          <a:ln/>
        </p:spPr>
      </p:sp>
      <p:sp>
        <p:nvSpPr>
          <p:cNvPr id="15" name="Light B green"/>
          <p:cNvSpPr/>
          <p:nvPr/>
        </p:nvSpPr>
        <p:spPr>
          <a:xfrm>
            <a:off x="7116775" y="2105863"/>
            <a:ext cx="396850" cy="396850"/>
          </a:xfrm>
          <a:prstGeom prst="ellipse">
            <a:avLst/>
          </a:prstGeom>
          <a:solidFill>
            <a:schemeClr val="accent3"/>
          </a:solidFill>
          <a:ln/>
        </p:spPr>
      </p:sp>
      <p:sp>
        <p:nvSpPr>
          <p:cNvPr id="16" name="Text 14"/>
          <p:cNvSpPr txBox="1"/>
          <p:nvPr/>
        </p:nvSpPr>
        <p:spPr>
          <a:xfrm>
            <a:off x="6903720" y="2834640"/>
            <a:ext cx="822960" cy="274320"/>
          </a:xfrm>
          <a:prstGeom prst="rect">
            <a:avLst/>
          </a:prstGeom>
          <a:noFill/>
          <a:ln/>
        </p:spPr>
        <p:txBody>
          <a:bodyPr wrap="square" lIns="0" tIns="0" rIns="0" bIns="0" rtlCol="0" anchor="ctr"/>
          <a:lstStyle/>
          <a:p>
            <a:pPr algn="ctr" indent="0" marL="0">
              <a:buNone/>
            </a:pPr>
            <a:r>
              <a:rPr lang="en-US" sz="1400" b="1" dirty="0">
                <a:solidFill>
                  <a:schemeClr val="bg1"/>
                </a:solidFill>
              </a:rPr>
              <a:t>Signal B</a:t>
            </a:r>
            <a:endParaRPr lang="en-US" sz="1400" dirty="0"/>
          </a:p>
        </p:txBody>
      </p:sp>
      <p:sp>
        <p:nvSpPr>
          <p:cNvPr id="17" name="Text 15"/>
          <p:cNvSpPr txBox="1"/>
          <p:nvPr/>
        </p:nvSpPr>
        <p:spPr>
          <a:xfrm>
            <a:off x="6903720" y="3108960"/>
            <a:ext cx="822960" cy="365760"/>
          </a:xfrm>
          <a:prstGeom prst="rect">
            <a:avLst/>
          </a:prstGeom>
          <a:noFill/>
          <a:ln/>
        </p:spPr>
        <p:txBody>
          <a:bodyPr wrap="square" lIns="0" tIns="0" rIns="0" bIns="0" rtlCol="0" anchor="ctr"/>
          <a:lstStyle/>
          <a:p>
            <a:pPr algn="ctr" indent="0" marL="0">
              <a:buNone/>
            </a:pPr>
            <a:r>
              <a:rPr lang="en-US" sz="2000" b="1" dirty="0">
                <a:solidFill>
                  <a:schemeClr val="accent2"/>
                </a:solidFill>
              </a:rPr>
              <a:t>5 min</a:t>
            </a:r>
            <a:endParaRPr lang="en-US" sz="2000" dirty="0"/>
          </a:p>
        </p:txBody>
      </p:sp>
      <p:sp>
        <p:nvSpPr>
          <p:cNvPr id="18" name="Light C housing"/>
          <p:cNvSpPr/>
          <p:nvPr/>
        </p:nvSpPr>
        <p:spPr>
          <a:xfrm>
            <a:off x="7818120" y="914400"/>
            <a:ext cx="640080" cy="1737360"/>
          </a:xfrm>
          <a:prstGeom prst="roundRect">
            <a:avLst>
              <a:gd name="adj" fmla="val 30000"/>
            </a:avLst>
          </a:prstGeom>
          <a:solidFill>
            <a:schemeClr val="tx1"/>
          </a:solidFill>
          <a:ln w="19050">
            <a:solidFill>
              <a:schemeClr val="bg1"/>
            </a:solidFill>
            <a:prstDash val="solid"/>
          </a:ln>
        </p:spPr>
      </p:sp>
      <p:sp>
        <p:nvSpPr>
          <p:cNvPr id="19" name="Light C red"/>
          <p:cNvSpPr/>
          <p:nvPr/>
        </p:nvSpPr>
        <p:spPr>
          <a:xfrm>
            <a:off x="7939735" y="1063447"/>
            <a:ext cx="396850" cy="396850"/>
          </a:xfrm>
          <a:prstGeom prst="ellipse">
            <a:avLst/>
          </a:prstGeom>
          <a:solidFill>
            <a:schemeClr val="accent1"/>
          </a:solidFill>
          <a:ln/>
        </p:spPr>
      </p:sp>
      <p:sp>
        <p:nvSpPr>
          <p:cNvPr id="20" name="Light C amber"/>
          <p:cNvSpPr/>
          <p:nvPr/>
        </p:nvSpPr>
        <p:spPr>
          <a:xfrm>
            <a:off x="7939735" y="1584655"/>
            <a:ext cx="396850" cy="396850"/>
          </a:xfrm>
          <a:prstGeom prst="ellipse">
            <a:avLst/>
          </a:prstGeom>
          <a:solidFill>
            <a:schemeClr val="accent2"/>
          </a:solidFill>
          <a:ln/>
        </p:spPr>
      </p:sp>
      <p:sp>
        <p:nvSpPr>
          <p:cNvPr id="21" name="Light C green"/>
          <p:cNvSpPr/>
          <p:nvPr/>
        </p:nvSpPr>
        <p:spPr>
          <a:xfrm>
            <a:off x="7939735" y="2105863"/>
            <a:ext cx="396850" cy="396850"/>
          </a:xfrm>
          <a:prstGeom prst="ellipse">
            <a:avLst/>
          </a:prstGeom>
          <a:solidFill>
            <a:schemeClr val="accent3"/>
          </a:solidFill>
          <a:ln/>
        </p:spPr>
      </p:sp>
      <p:sp>
        <p:nvSpPr>
          <p:cNvPr id="22" name="Text 20"/>
          <p:cNvSpPr txBox="1"/>
          <p:nvPr/>
        </p:nvSpPr>
        <p:spPr>
          <a:xfrm>
            <a:off x="7726680" y="2834640"/>
            <a:ext cx="822960" cy="274320"/>
          </a:xfrm>
          <a:prstGeom prst="rect">
            <a:avLst/>
          </a:prstGeom>
          <a:noFill/>
          <a:ln/>
        </p:spPr>
        <p:txBody>
          <a:bodyPr wrap="square" lIns="0" tIns="0" rIns="0" bIns="0" rtlCol="0" anchor="ctr"/>
          <a:lstStyle/>
          <a:p>
            <a:pPr algn="ctr" indent="0" marL="0">
              <a:buNone/>
            </a:pPr>
            <a:r>
              <a:rPr lang="en-US" sz="1400" b="1" dirty="0">
                <a:solidFill>
                  <a:schemeClr val="bg1"/>
                </a:solidFill>
              </a:rPr>
              <a:t>Signal C</a:t>
            </a:r>
            <a:endParaRPr lang="en-US" sz="1400" dirty="0"/>
          </a:p>
        </p:txBody>
      </p:sp>
      <p:sp>
        <p:nvSpPr>
          <p:cNvPr id="23" name="Text 21"/>
          <p:cNvSpPr txBox="1"/>
          <p:nvPr/>
        </p:nvSpPr>
        <p:spPr>
          <a:xfrm>
            <a:off x="7726680" y="3108960"/>
            <a:ext cx="822960" cy="365760"/>
          </a:xfrm>
          <a:prstGeom prst="rect">
            <a:avLst/>
          </a:prstGeom>
          <a:noFill/>
          <a:ln/>
        </p:spPr>
        <p:txBody>
          <a:bodyPr wrap="square" lIns="0" tIns="0" rIns="0" bIns="0" rtlCol="0" anchor="ctr"/>
          <a:lstStyle/>
          <a:p>
            <a:pPr algn="ctr" indent="0" marL="0">
              <a:buNone/>
            </a:pPr>
            <a:r>
              <a:rPr lang="en-US" sz="2000" b="1" dirty="0">
                <a:solidFill>
                  <a:schemeClr val="accent2"/>
                </a:solidFill>
              </a:rPr>
              <a:t>7 min</a:t>
            </a:r>
            <a:endParaRPr lang="en-US" sz="2000" dirty="0"/>
          </a:p>
        </p:txBody>
      </p:sp>
      <p:sp>
        <p:nvSpPr>
          <p:cNvPr id="24" name="Text 22"/>
          <p:cNvSpPr txBox="1"/>
          <p:nvPr/>
        </p:nvSpPr>
        <p:spPr>
          <a:xfrm>
            <a:off x="6126480" y="3749040"/>
            <a:ext cx="2377440" cy="548640"/>
          </a:xfrm>
          <a:prstGeom prst="rect">
            <a:avLst/>
          </a:prstGeom>
          <a:noFill/>
          <a:ln/>
        </p:spPr>
        <p:txBody>
          <a:bodyPr wrap="square" lIns="0" tIns="0" rIns="0" bIns="0" rtlCol="0" anchor="t"/>
          <a:lstStyle/>
          <a:p>
            <a:pPr algn="ctr" indent="0" marL="0">
              <a:buNone/>
            </a:pPr>
            <a:r>
              <a:rPr lang="en-US" sz="1200" dirty="0">
                <a:solidFill>
                  <a:schemeClr val="bg2"/>
                </a:solidFill>
              </a:rPr>
              <a:t>Three signals, three different cycle intervals (illustrative values)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Problem Statement</a:t>
            </a:r>
            <a:endParaRPr lang="en-US" sz="3000" dirty="0"/>
          </a:p>
        </p:txBody>
      </p:sp>
      <p:sp>
        <p:nvSpPr>
          <p:cNvPr id="3" name="Text 1"/>
          <p:cNvSpPr txBox="1"/>
          <p:nvPr/>
        </p:nvSpPr>
        <p:spPr>
          <a:xfrm>
            <a:off x="457200" y="1097280"/>
            <a:ext cx="42062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Several traffic signals repeat on different cycles.</a:t>
            </a:r>
            <a:endParaRPr lang="en-US" sz="1500" dirty="0"/>
          </a:p>
          <a:p>
            <a:pPr marL="342900" indent="-342900">
              <a:spcAft>
                <a:spcPts val="800"/>
              </a:spcAft>
              <a:buSzPct val="100000"/>
              <a:buChar char="•"/>
            </a:pPr>
            <a:r>
              <a:rPr lang="en-US" sz="1500" dirty="0">
                <a:solidFill>
                  <a:schemeClr val="tx1"/>
                </a:solidFill>
              </a:rPr>
              <a:t>Each signal follows its own timing schedule.</a:t>
            </a:r>
            <a:endParaRPr lang="en-US" sz="1500" dirty="0"/>
          </a:p>
          <a:p>
            <a:pPr marL="342900" indent="-342900">
              <a:spcAft>
                <a:spcPts val="800"/>
              </a:spcAft>
              <a:buSzPct val="100000"/>
              <a:buChar char="•"/>
            </a:pPr>
            <a:r>
              <a:rPr lang="en-US" sz="1500" b="1" dirty="0">
                <a:solidFill>
                  <a:schemeClr val="tx2"/>
                </a:solidFill>
              </a:rPr>
              <a:t>Question: when do all signals turn green together?</a:t>
            </a:r>
            <a:endParaRPr lang="en-US" sz="1500" dirty="0"/>
          </a:p>
          <a:p>
            <a:pPr marL="342900" indent="-342900">
              <a:spcAft>
                <a:spcPts val="800"/>
              </a:spcAft>
              <a:buSzPct val="100000"/>
              <a:buChar char="•"/>
            </a:pPr>
            <a:r>
              <a:rPr lang="en-US" sz="1500" dirty="0">
                <a:solidFill>
                  <a:schemeClr val="tx1"/>
                </a:solidFill>
              </a:rPr>
              <a:t>The Chinese Remainder Theorem (CRT) helps solve the modular equations that describe this.</a:t>
            </a:r>
            <a:endParaRPr lang="en-US" sz="1500" dirty="0"/>
          </a:p>
        </p:txBody>
      </p:sp>
      <p:sp>
        <p:nvSpPr>
          <p:cNvPr id="4" name="Signals panel"/>
          <p:cNvSpPr/>
          <p:nvPr/>
        </p:nvSpPr>
        <p:spPr>
          <a:xfrm>
            <a:off x="4937760" y="1051560"/>
            <a:ext cx="3749040" cy="2880360"/>
          </a:xfrm>
          <a:prstGeom prst="roundRect">
            <a:avLst>
              <a:gd name="adj" fmla="val 3810"/>
            </a:avLst>
          </a:prstGeom>
          <a:solidFill>
            <a:schemeClr val="bg2"/>
          </a:solidFill>
          <a:ln/>
        </p:spPr>
      </p:sp>
      <p:sp>
        <p:nvSpPr>
          <p:cNvPr id="5" name="Badge A"/>
          <p:cNvSpPr/>
          <p:nvPr/>
        </p:nvSpPr>
        <p:spPr>
          <a:xfrm>
            <a:off x="5166360" y="1344168"/>
            <a:ext cx="502920" cy="502920"/>
          </a:xfrm>
          <a:prstGeom prst="ellipse">
            <a:avLst/>
          </a:prstGeom>
          <a:solidFill>
            <a:schemeClr val="tx2"/>
          </a:solidFill>
          <a:ln/>
        </p:spPr>
      </p:sp>
      <p:sp>
        <p:nvSpPr>
          <p:cNvPr id="6" name="Text 4"/>
          <p:cNvSpPr txBox="1"/>
          <p:nvPr/>
        </p:nvSpPr>
        <p:spPr>
          <a:xfrm>
            <a:off x="5166360" y="134416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Text 5"/>
          <p:cNvSpPr txBox="1"/>
          <p:nvPr/>
        </p:nvSpPr>
        <p:spPr>
          <a:xfrm>
            <a:off x="5852160" y="132588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Signal A</a:t>
            </a:r>
            <a:endParaRPr lang="en-US" sz="1600" dirty="0"/>
          </a:p>
          <a:p>
            <a:pPr indent="0" marL="0">
              <a:buNone/>
            </a:pPr>
            <a:r>
              <a:rPr lang="en-US" sz="1400" dirty="0">
                <a:solidFill>
                  <a:schemeClr val="tx1"/>
                </a:solidFill>
              </a:rPr>
              <a:t>Cycle: 3 minutes</a:t>
            </a:r>
            <a:endParaRPr lang="en-US" sz="1600" dirty="0"/>
          </a:p>
        </p:txBody>
      </p:sp>
      <p:sp>
        <p:nvSpPr>
          <p:cNvPr id="8" name="Mini light A"/>
          <p:cNvSpPr/>
          <p:nvPr/>
        </p:nvSpPr>
        <p:spPr>
          <a:xfrm>
            <a:off x="7635240" y="1435608"/>
            <a:ext cx="868680" cy="329184"/>
          </a:xfrm>
          <a:prstGeom prst="roundRect">
            <a:avLst>
              <a:gd name="adj" fmla="val 33333"/>
            </a:avLst>
          </a:prstGeom>
          <a:solidFill>
            <a:schemeClr val="tx1"/>
          </a:solidFill>
          <a:ln/>
        </p:spPr>
      </p:sp>
      <p:sp>
        <p:nvSpPr>
          <p:cNvPr id="9" name="Mini lamp A0"/>
          <p:cNvSpPr/>
          <p:nvPr/>
        </p:nvSpPr>
        <p:spPr>
          <a:xfrm>
            <a:off x="7708392" y="1481328"/>
            <a:ext cx="237744" cy="237744"/>
          </a:xfrm>
          <a:prstGeom prst="ellipse">
            <a:avLst/>
          </a:prstGeom>
          <a:solidFill>
            <a:schemeClr val="accent1"/>
          </a:solidFill>
          <a:ln/>
        </p:spPr>
      </p:sp>
      <p:sp>
        <p:nvSpPr>
          <p:cNvPr id="10" name="Mini lamp A1"/>
          <p:cNvSpPr/>
          <p:nvPr/>
        </p:nvSpPr>
        <p:spPr>
          <a:xfrm>
            <a:off x="7982712" y="1481328"/>
            <a:ext cx="237744" cy="237744"/>
          </a:xfrm>
          <a:prstGeom prst="ellipse">
            <a:avLst/>
          </a:prstGeom>
          <a:solidFill>
            <a:schemeClr val="accent2">
              <a:alpha val="22000"/>
            </a:schemeClr>
          </a:solidFill>
          <a:ln/>
        </p:spPr>
      </p:sp>
      <p:sp>
        <p:nvSpPr>
          <p:cNvPr id="11" name="Mini lamp A2"/>
          <p:cNvSpPr/>
          <p:nvPr/>
        </p:nvSpPr>
        <p:spPr>
          <a:xfrm>
            <a:off x="8257032" y="1481328"/>
            <a:ext cx="237744" cy="237744"/>
          </a:xfrm>
          <a:prstGeom prst="ellipse">
            <a:avLst/>
          </a:prstGeom>
          <a:solidFill>
            <a:schemeClr val="accent3">
              <a:alpha val="22000"/>
            </a:schemeClr>
          </a:solidFill>
          <a:ln/>
        </p:spPr>
      </p:sp>
      <p:sp>
        <p:nvSpPr>
          <p:cNvPr id="12" name="Badge B"/>
          <p:cNvSpPr/>
          <p:nvPr/>
        </p:nvSpPr>
        <p:spPr>
          <a:xfrm>
            <a:off x="5166360" y="2212848"/>
            <a:ext cx="502920" cy="502920"/>
          </a:xfrm>
          <a:prstGeom prst="ellipse">
            <a:avLst/>
          </a:prstGeom>
          <a:solidFill>
            <a:schemeClr val="tx2"/>
          </a:solidFill>
          <a:ln/>
        </p:spPr>
      </p:sp>
      <p:sp>
        <p:nvSpPr>
          <p:cNvPr id="13" name="Text 11"/>
          <p:cNvSpPr txBox="1"/>
          <p:nvPr/>
        </p:nvSpPr>
        <p:spPr>
          <a:xfrm>
            <a:off x="5166360" y="221284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2"/>
          <p:cNvSpPr txBox="1"/>
          <p:nvPr/>
        </p:nvSpPr>
        <p:spPr>
          <a:xfrm>
            <a:off x="5852160" y="219456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Signal B</a:t>
            </a:r>
            <a:endParaRPr lang="en-US" sz="1600" dirty="0"/>
          </a:p>
          <a:p>
            <a:pPr indent="0" marL="0">
              <a:buNone/>
            </a:pPr>
            <a:r>
              <a:rPr lang="en-US" sz="1400" dirty="0">
                <a:solidFill>
                  <a:schemeClr val="tx1"/>
                </a:solidFill>
              </a:rPr>
              <a:t>Cycle: 5 minutes</a:t>
            </a:r>
            <a:endParaRPr lang="en-US" sz="1600" dirty="0"/>
          </a:p>
        </p:txBody>
      </p:sp>
      <p:sp>
        <p:nvSpPr>
          <p:cNvPr id="15" name="Mini light B"/>
          <p:cNvSpPr/>
          <p:nvPr/>
        </p:nvSpPr>
        <p:spPr>
          <a:xfrm>
            <a:off x="7635240" y="2304288"/>
            <a:ext cx="868680" cy="329184"/>
          </a:xfrm>
          <a:prstGeom prst="roundRect">
            <a:avLst>
              <a:gd name="adj" fmla="val 33333"/>
            </a:avLst>
          </a:prstGeom>
          <a:solidFill>
            <a:schemeClr val="tx1"/>
          </a:solidFill>
          <a:ln/>
        </p:spPr>
      </p:sp>
      <p:sp>
        <p:nvSpPr>
          <p:cNvPr id="16" name="Mini lamp B0"/>
          <p:cNvSpPr/>
          <p:nvPr/>
        </p:nvSpPr>
        <p:spPr>
          <a:xfrm>
            <a:off x="7708392" y="2350008"/>
            <a:ext cx="237744" cy="237744"/>
          </a:xfrm>
          <a:prstGeom prst="ellipse">
            <a:avLst/>
          </a:prstGeom>
          <a:solidFill>
            <a:schemeClr val="accent1">
              <a:alpha val="22000"/>
            </a:schemeClr>
          </a:solidFill>
          <a:ln/>
        </p:spPr>
      </p:sp>
      <p:sp>
        <p:nvSpPr>
          <p:cNvPr id="17" name="Mini lamp B1"/>
          <p:cNvSpPr/>
          <p:nvPr/>
        </p:nvSpPr>
        <p:spPr>
          <a:xfrm>
            <a:off x="7982712" y="2350008"/>
            <a:ext cx="237744" cy="237744"/>
          </a:xfrm>
          <a:prstGeom prst="ellipse">
            <a:avLst/>
          </a:prstGeom>
          <a:solidFill>
            <a:schemeClr val="accent2"/>
          </a:solidFill>
          <a:ln/>
        </p:spPr>
      </p:sp>
      <p:sp>
        <p:nvSpPr>
          <p:cNvPr id="18" name="Mini lamp B2"/>
          <p:cNvSpPr/>
          <p:nvPr/>
        </p:nvSpPr>
        <p:spPr>
          <a:xfrm>
            <a:off x="8257032" y="2350008"/>
            <a:ext cx="237744" cy="237744"/>
          </a:xfrm>
          <a:prstGeom prst="ellipse">
            <a:avLst/>
          </a:prstGeom>
          <a:solidFill>
            <a:schemeClr val="accent3">
              <a:alpha val="22000"/>
            </a:schemeClr>
          </a:solidFill>
          <a:ln/>
        </p:spPr>
      </p:sp>
      <p:sp>
        <p:nvSpPr>
          <p:cNvPr id="19" name="Badge C"/>
          <p:cNvSpPr/>
          <p:nvPr/>
        </p:nvSpPr>
        <p:spPr>
          <a:xfrm>
            <a:off x="5166360" y="3081528"/>
            <a:ext cx="502920" cy="502920"/>
          </a:xfrm>
          <a:prstGeom prst="ellipse">
            <a:avLst/>
          </a:prstGeom>
          <a:solidFill>
            <a:schemeClr val="tx2"/>
          </a:solidFill>
          <a:ln/>
        </p:spPr>
      </p:sp>
      <p:sp>
        <p:nvSpPr>
          <p:cNvPr id="20" name="Text 18"/>
          <p:cNvSpPr txBox="1"/>
          <p:nvPr/>
        </p:nvSpPr>
        <p:spPr>
          <a:xfrm>
            <a:off x="5166360" y="308152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21" name="Text 19"/>
          <p:cNvSpPr txBox="1"/>
          <p:nvPr/>
        </p:nvSpPr>
        <p:spPr>
          <a:xfrm>
            <a:off x="5852160" y="306324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Signal C</a:t>
            </a:r>
            <a:endParaRPr lang="en-US" sz="1600" dirty="0"/>
          </a:p>
          <a:p>
            <a:pPr indent="0" marL="0">
              <a:buNone/>
            </a:pPr>
            <a:r>
              <a:rPr lang="en-US" sz="1400" dirty="0">
                <a:solidFill>
                  <a:schemeClr val="tx1"/>
                </a:solidFill>
              </a:rPr>
              <a:t>Cycle: 7 minutes</a:t>
            </a:r>
            <a:endParaRPr lang="en-US" sz="1600" dirty="0"/>
          </a:p>
        </p:txBody>
      </p:sp>
      <p:sp>
        <p:nvSpPr>
          <p:cNvPr id="22" name="Mini light C"/>
          <p:cNvSpPr/>
          <p:nvPr/>
        </p:nvSpPr>
        <p:spPr>
          <a:xfrm>
            <a:off x="7635240" y="3172968"/>
            <a:ext cx="868680" cy="329184"/>
          </a:xfrm>
          <a:prstGeom prst="roundRect">
            <a:avLst>
              <a:gd name="adj" fmla="val 33333"/>
            </a:avLst>
          </a:prstGeom>
          <a:solidFill>
            <a:schemeClr val="tx1"/>
          </a:solidFill>
          <a:ln/>
        </p:spPr>
      </p:sp>
      <p:sp>
        <p:nvSpPr>
          <p:cNvPr id="23" name="Mini lamp C0"/>
          <p:cNvSpPr/>
          <p:nvPr/>
        </p:nvSpPr>
        <p:spPr>
          <a:xfrm>
            <a:off x="7708392" y="3218688"/>
            <a:ext cx="237744" cy="237744"/>
          </a:xfrm>
          <a:prstGeom prst="ellipse">
            <a:avLst/>
          </a:prstGeom>
          <a:solidFill>
            <a:schemeClr val="accent1">
              <a:alpha val="22000"/>
            </a:schemeClr>
          </a:solidFill>
          <a:ln/>
        </p:spPr>
      </p:sp>
      <p:sp>
        <p:nvSpPr>
          <p:cNvPr id="24" name="Mini lamp C1"/>
          <p:cNvSpPr/>
          <p:nvPr/>
        </p:nvSpPr>
        <p:spPr>
          <a:xfrm>
            <a:off x="7982712" y="3218688"/>
            <a:ext cx="237744" cy="237744"/>
          </a:xfrm>
          <a:prstGeom prst="ellipse">
            <a:avLst/>
          </a:prstGeom>
          <a:solidFill>
            <a:schemeClr val="accent2">
              <a:alpha val="22000"/>
            </a:schemeClr>
          </a:solidFill>
          <a:ln/>
        </p:spPr>
      </p:sp>
      <p:sp>
        <p:nvSpPr>
          <p:cNvPr id="25" name="Mini lamp C2"/>
          <p:cNvSpPr/>
          <p:nvPr/>
        </p:nvSpPr>
        <p:spPr>
          <a:xfrm>
            <a:off x="8257032" y="3218688"/>
            <a:ext cx="237744" cy="237744"/>
          </a:xfrm>
          <a:prstGeom prst="ellipse">
            <a:avLst/>
          </a:prstGeom>
          <a:solidFill>
            <a:schemeClr val="accent3"/>
          </a:solidFill>
          <a:ln/>
        </p:spPr>
      </p:sp>
      <p:sp>
        <p:nvSpPr>
          <p:cNvPr id="26" name="Assumption note"/>
          <p:cNvSpPr/>
          <p:nvPr/>
        </p:nvSpPr>
        <p:spPr>
          <a:xfrm>
            <a:off x="457200" y="4069080"/>
            <a:ext cx="8229600" cy="548640"/>
          </a:xfrm>
          <a:prstGeom prst="roundRect">
            <a:avLst>
              <a:gd name="adj" fmla="val 20000"/>
            </a:avLst>
          </a:prstGeom>
          <a:solidFill>
            <a:schemeClr val="accent2">
              <a:alpha val="20000"/>
            </a:schemeClr>
          </a:solidFill>
          <a:ln/>
        </p:spPr>
      </p:sp>
      <p:sp>
        <p:nvSpPr>
          <p:cNvPr id="27" name="Text 25"/>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chemeClr val="tx2"/>
                </a:solidFill>
              </a:rPr>
              <a:t>These intervals are illustrative assumptions for a mathematical example, not measured real-world data.</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Objectives and Motivation</a:t>
            </a:r>
            <a:endParaRPr lang="en-US" sz="3000" dirty="0"/>
          </a:p>
        </p:txBody>
      </p:sp>
      <p:sp>
        <p:nvSpPr>
          <p:cNvPr id="3" name="Objective badge 1"/>
          <p:cNvSpPr/>
          <p:nvPr/>
        </p:nvSpPr>
        <p:spPr>
          <a:xfrm>
            <a:off x="457200" y="1097280"/>
            <a:ext cx="365760" cy="365760"/>
          </a:xfrm>
          <a:prstGeom prst="ellipse">
            <a:avLst/>
          </a:prstGeom>
          <a:solidFill>
            <a:schemeClr val="accent1"/>
          </a:solidFill>
          <a:ln/>
        </p:spPr>
      </p:sp>
      <p:sp>
        <p:nvSpPr>
          <p:cNvPr id="4" name="Text 2"/>
          <p:cNvSpPr txBox="1"/>
          <p:nvPr/>
        </p:nvSpPr>
        <p:spPr>
          <a:xfrm>
            <a:off x="457200" y="1097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960120" y="1097280"/>
            <a:ext cx="3840480" cy="365760"/>
          </a:xfrm>
          <a:prstGeom prst="rect">
            <a:avLst/>
          </a:prstGeom>
          <a:noFill/>
          <a:ln/>
        </p:spPr>
        <p:txBody>
          <a:bodyPr wrap="square" lIns="0" tIns="0" rIns="0" bIns="0" rtlCol="0" anchor="ctr"/>
          <a:lstStyle/>
          <a:p>
            <a:pPr indent="0" marL="0">
              <a:buNone/>
            </a:pPr>
            <a:r>
              <a:rPr lang="en-US" sz="1400" dirty="0">
                <a:solidFill>
                  <a:schemeClr val="tx1"/>
                </a:solidFill>
              </a:rPr>
              <a:t>Understand periodic events mathematically</a:t>
            </a:r>
            <a:endParaRPr lang="en-US" sz="1400" dirty="0"/>
          </a:p>
        </p:txBody>
      </p:sp>
      <p:sp>
        <p:nvSpPr>
          <p:cNvPr id="6" name="Objective badge 2"/>
          <p:cNvSpPr/>
          <p:nvPr/>
        </p:nvSpPr>
        <p:spPr>
          <a:xfrm>
            <a:off x="457200" y="1581912"/>
            <a:ext cx="365760" cy="365760"/>
          </a:xfrm>
          <a:prstGeom prst="ellipse">
            <a:avLst/>
          </a:prstGeom>
          <a:solidFill>
            <a:schemeClr val="accent2"/>
          </a:solidFill>
          <a:ln/>
        </p:spPr>
      </p:sp>
      <p:sp>
        <p:nvSpPr>
          <p:cNvPr id="7" name="Text 5"/>
          <p:cNvSpPr txBox="1"/>
          <p:nvPr/>
        </p:nvSpPr>
        <p:spPr>
          <a:xfrm>
            <a:off x="457200" y="15819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960120" y="1581912"/>
            <a:ext cx="3840480" cy="365760"/>
          </a:xfrm>
          <a:prstGeom prst="rect">
            <a:avLst/>
          </a:prstGeom>
          <a:noFill/>
          <a:ln/>
        </p:spPr>
        <p:txBody>
          <a:bodyPr wrap="square" lIns="0" tIns="0" rIns="0" bIns="0" rtlCol="0" anchor="ctr"/>
          <a:lstStyle/>
          <a:p>
            <a:pPr indent="0" marL="0">
              <a:buNone/>
            </a:pPr>
            <a:r>
              <a:rPr lang="en-US" sz="1400" dirty="0">
                <a:solidFill>
                  <a:schemeClr val="tx1"/>
                </a:solidFill>
              </a:rPr>
              <a:t>Represent signal timing using modular arithmetic</a:t>
            </a:r>
            <a:endParaRPr lang="en-US" sz="1400" dirty="0"/>
          </a:p>
        </p:txBody>
      </p:sp>
      <p:sp>
        <p:nvSpPr>
          <p:cNvPr id="9" name="Objective badge 3"/>
          <p:cNvSpPr/>
          <p:nvPr/>
        </p:nvSpPr>
        <p:spPr>
          <a:xfrm>
            <a:off x="457200" y="2066544"/>
            <a:ext cx="365760" cy="365760"/>
          </a:xfrm>
          <a:prstGeom prst="ellipse">
            <a:avLst/>
          </a:prstGeom>
          <a:solidFill>
            <a:schemeClr val="accent3"/>
          </a:solidFill>
          <a:ln/>
        </p:spPr>
      </p:sp>
      <p:sp>
        <p:nvSpPr>
          <p:cNvPr id="10" name="Text 8"/>
          <p:cNvSpPr txBox="1"/>
          <p:nvPr/>
        </p:nvSpPr>
        <p:spPr>
          <a:xfrm>
            <a:off x="457200" y="20665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960120" y="2066544"/>
            <a:ext cx="3840480" cy="365760"/>
          </a:xfrm>
          <a:prstGeom prst="rect">
            <a:avLst/>
          </a:prstGeom>
          <a:noFill/>
          <a:ln/>
        </p:spPr>
        <p:txBody>
          <a:bodyPr wrap="square" lIns="0" tIns="0" rIns="0" bIns="0" rtlCol="0" anchor="ctr"/>
          <a:lstStyle/>
          <a:p>
            <a:pPr indent="0" marL="0">
              <a:buNone/>
            </a:pPr>
            <a:r>
              <a:rPr lang="en-US" sz="1400" dirty="0">
                <a:solidFill>
                  <a:schemeClr val="tx1"/>
                </a:solidFill>
              </a:rPr>
              <a:t>Apply the Chinese Remainder Theorem</a:t>
            </a:r>
            <a:endParaRPr lang="en-US" sz="1400" dirty="0"/>
          </a:p>
        </p:txBody>
      </p:sp>
      <p:sp>
        <p:nvSpPr>
          <p:cNvPr id="12" name="Objective badge 4"/>
          <p:cNvSpPr/>
          <p:nvPr/>
        </p:nvSpPr>
        <p:spPr>
          <a:xfrm>
            <a:off x="457200" y="2551176"/>
            <a:ext cx="365760" cy="365760"/>
          </a:xfrm>
          <a:prstGeom prst="ellipse">
            <a:avLst/>
          </a:prstGeom>
          <a:solidFill>
            <a:schemeClr val="accent4"/>
          </a:solidFill>
          <a:ln/>
        </p:spPr>
      </p:sp>
      <p:sp>
        <p:nvSpPr>
          <p:cNvPr id="13" name="Text 11"/>
          <p:cNvSpPr txBox="1"/>
          <p:nvPr/>
        </p:nvSpPr>
        <p:spPr>
          <a:xfrm>
            <a:off x="457200" y="25511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960120" y="2551176"/>
            <a:ext cx="3840480" cy="365760"/>
          </a:xfrm>
          <a:prstGeom prst="rect">
            <a:avLst/>
          </a:prstGeom>
          <a:noFill/>
          <a:ln/>
        </p:spPr>
        <p:txBody>
          <a:bodyPr wrap="square" lIns="0" tIns="0" rIns="0" bIns="0" rtlCol="0" anchor="ctr"/>
          <a:lstStyle/>
          <a:p>
            <a:pPr indent="0" marL="0">
              <a:buNone/>
            </a:pPr>
            <a:r>
              <a:rPr lang="en-US" sz="1400" dirty="0">
                <a:solidFill>
                  <a:schemeClr val="tx1"/>
                </a:solidFill>
              </a:rPr>
              <a:t>Find a common synchronization time</a:t>
            </a:r>
            <a:endParaRPr lang="en-US" sz="1400" dirty="0"/>
          </a:p>
        </p:txBody>
      </p:sp>
      <p:sp>
        <p:nvSpPr>
          <p:cNvPr id="15" name="Objective badge 5"/>
          <p:cNvSpPr/>
          <p:nvPr/>
        </p:nvSpPr>
        <p:spPr>
          <a:xfrm>
            <a:off x="457200" y="3035808"/>
            <a:ext cx="365760" cy="365760"/>
          </a:xfrm>
          <a:prstGeom prst="ellipse">
            <a:avLst/>
          </a:prstGeom>
          <a:solidFill>
            <a:schemeClr val="tx2"/>
          </a:solidFill>
          <a:ln/>
        </p:spPr>
      </p:sp>
      <p:sp>
        <p:nvSpPr>
          <p:cNvPr id="16" name="Text 14"/>
          <p:cNvSpPr txBox="1"/>
          <p:nvPr/>
        </p:nvSpPr>
        <p:spPr>
          <a:xfrm>
            <a:off x="457200" y="3035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960120" y="3035808"/>
            <a:ext cx="3840480" cy="365760"/>
          </a:xfrm>
          <a:prstGeom prst="rect">
            <a:avLst/>
          </a:prstGeom>
          <a:noFill/>
          <a:ln/>
        </p:spPr>
        <p:txBody>
          <a:bodyPr wrap="square" lIns="0" tIns="0" rIns="0" bIns="0" rtlCol="0" anchor="ctr"/>
          <a:lstStyle/>
          <a:p>
            <a:pPr indent="0" marL="0">
              <a:buNone/>
            </a:pPr>
            <a:r>
              <a:rPr lang="en-US" sz="1400" dirty="0">
                <a:solidFill>
                  <a:schemeClr val="tx1"/>
                </a:solidFill>
              </a:rPr>
              <a:t>Verify the result against the original conditions</a:t>
            </a:r>
            <a:endParaRPr lang="en-US" sz="1400" dirty="0"/>
          </a:p>
        </p:txBody>
      </p:sp>
      <p:sp>
        <p:nvSpPr>
          <p:cNvPr id="18" name="Convergence panel"/>
          <p:cNvSpPr/>
          <p:nvPr/>
        </p:nvSpPr>
        <p:spPr>
          <a:xfrm>
            <a:off x="5029200" y="1051560"/>
            <a:ext cx="3657600" cy="2423160"/>
          </a:xfrm>
          <a:prstGeom prst="roundRect">
            <a:avLst>
              <a:gd name="adj" fmla="val 4528"/>
            </a:avLst>
          </a:prstGeom>
          <a:solidFill>
            <a:schemeClr val="bg2"/>
          </a:solidFill>
          <a:ln/>
        </p:spPr>
      </p:sp>
      <p:sp>
        <p:nvSpPr>
          <p:cNvPr id="19" name="Start A · 3"/>
          <p:cNvSpPr/>
          <p:nvPr/>
        </p:nvSpPr>
        <p:spPr>
          <a:xfrm>
            <a:off x="5166360" y="1097280"/>
            <a:ext cx="411480" cy="411480"/>
          </a:xfrm>
          <a:prstGeom prst="ellipse">
            <a:avLst/>
          </a:prstGeom>
          <a:solidFill>
            <a:schemeClr val="accent1"/>
          </a:solidFill>
          <a:ln/>
        </p:spPr>
      </p:sp>
      <p:sp>
        <p:nvSpPr>
          <p:cNvPr id="20" name="Text 18"/>
          <p:cNvSpPr txBox="1"/>
          <p:nvPr/>
        </p:nvSpPr>
        <p:spPr>
          <a:xfrm>
            <a:off x="5166360" y="1097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1" name="Start B · 5"/>
          <p:cNvSpPr/>
          <p:nvPr/>
        </p:nvSpPr>
        <p:spPr>
          <a:xfrm>
            <a:off x="5166360" y="1828800"/>
            <a:ext cx="411480" cy="411480"/>
          </a:xfrm>
          <a:prstGeom prst="ellipse">
            <a:avLst/>
          </a:prstGeom>
          <a:solidFill>
            <a:schemeClr val="accent2"/>
          </a:solidFill>
          <a:ln/>
        </p:spPr>
      </p:sp>
      <p:sp>
        <p:nvSpPr>
          <p:cNvPr id="22" name="Text 20"/>
          <p:cNvSpPr txBox="1"/>
          <p:nvPr/>
        </p:nvSpPr>
        <p:spPr>
          <a:xfrm>
            <a:off x="5166360" y="182880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B</a:t>
            </a:r>
            <a:endParaRPr lang="en-US" sz="1400" dirty="0"/>
          </a:p>
        </p:txBody>
      </p:sp>
      <p:sp>
        <p:nvSpPr>
          <p:cNvPr id="23" name="Start C · 7"/>
          <p:cNvSpPr/>
          <p:nvPr/>
        </p:nvSpPr>
        <p:spPr>
          <a:xfrm>
            <a:off x="5166360" y="2560320"/>
            <a:ext cx="411480" cy="411480"/>
          </a:xfrm>
          <a:prstGeom prst="ellipse">
            <a:avLst/>
          </a:prstGeom>
          <a:solidFill>
            <a:schemeClr val="accent3"/>
          </a:solidFill>
          <a:ln/>
        </p:spPr>
      </p:sp>
      <p:sp>
        <p:nvSpPr>
          <p:cNvPr id="24" name="Text 22"/>
          <p:cNvSpPr txBox="1"/>
          <p:nvPr/>
        </p:nvSpPr>
        <p:spPr>
          <a:xfrm>
            <a:off x="5166360" y="2560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5" name="Converging arrow 1.4"/>
          <p:cNvSpPr/>
          <p:nvPr/>
        </p:nvSpPr>
        <p:spPr>
          <a:xfrm>
            <a:off x="5669280" y="1280160"/>
            <a:ext cx="1783080" cy="914400"/>
          </a:xfrm>
          <a:prstGeom prst="line">
            <a:avLst/>
          </a:prstGeom>
          <a:noFill/>
          <a:ln w="25400">
            <a:solidFill>
              <a:schemeClr val="accent5"/>
            </a:solidFill>
            <a:prstDash val="dash"/>
            <a:tailEnd type="triangle"/>
          </a:ln>
        </p:spPr>
      </p:sp>
      <p:sp>
        <p:nvSpPr>
          <p:cNvPr id="26" name="Converging arrow 2.2"/>
          <p:cNvSpPr/>
          <p:nvPr/>
        </p:nvSpPr>
        <p:spPr>
          <a:xfrm>
            <a:off x="5669280" y="2011680"/>
            <a:ext cx="1783080" cy="182880"/>
          </a:xfrm>
          <a:prstGeom prst="line">
            <a:avLst/>
          </a:prstGeom>
          <a:noFill/>
          <a:ln w="25400">
            <a:solidFill>
              <a:schemeClr val="accent5"/>
            </a:solidFill>
            <a:prstDash val="dash"/>
            <a:tailEnd type="triangle"/>
          </a:ln>
        </p:spPr>
      </p:sp>
      <p:sp>
        <p:nvSpPr>
          <p:cNvPr id="27" name="Converging arrow 3"/>
          <p:cNvSpPr/>
          <p:nvPr/>
        </p:nvSpPr>
        <p:spPr>
          <a:xfrm flipV="1">
            <a:off x="5669280" y="2194560"/>
            <a:ext cx="1783080" cy="548640"/>
          </a:xfrm>
          <a:prstGeom prst="line">
            <a:avLst/>
          </a:prstGeom>
          <a:noFill/>
          <a:ln w="25400">
            <a:solidFill>
              <a:schemeClr val="accent5"/>
            </a:solidFill>
            <a:prstDash val="dash"/>
            <a:tailEnd type="triangle"/>
          </a:ln>
        </p:spPr>
      </p:sp>
      <p:sp>
        <p:nvSpPr>
          <p:cNvPr id="28" name="Common time"/>
          <p:cNvSpPr/>
          <p:nvPr/>
        </p:nvSpPr>
        <p:spPr>
          <a:xfrm>
            <a:off x="7452360" y="1828800"/>
            <a:ext cx="731520" cy="731520"/>
          </a:xfrm>
          <a:prstGeom prst="ellipse">
            <a:avLst/>
          </a:prstGeom>
          <a:solidFill>
            <a:schemeClr val="accent3"/>
          </a:solidFill>
          <a:ln/>
        </p:spPr>
      </p:sp>
      <p:sp>
        <p:nvSpPr>
          <p:cNvPr id="29" name="Text 27"/>
          <p:cNvSpPr txBox="1"/>
          <p:nvPr/>
        </p:nvSpPr>
        <p:spPr>
          <a:xfrm>
            <a:off x="7315200" y="2578608"/>
            <a:ext cx="1280160" cy="274320"/>
          </a:xfrm>
          <a:prstGeom prst="rect">
            <a:avLst/>
          </a:prstGeom>
          <a:noFill/>
          <a:ln/>
        </p:spPr>
        <p:txBody>
          <a:bodyPr wrap="square" lIns="0" tIns="0" rIns="0" bIns="0" rtlCol="0" anchor="ctr"/>
          <a:lstStyle/>
          <a:p>
            <a:pPr algn="ctr" indent="0" marL="0">
              <a:buNone/>
            </a:pPr>
            <a:r>
              <a:rPr lang="en-US" sz="1200" b="1" dirty="0">
                <a:solidFill>
                  <a:schemeClr val="tx2"/>
                </a:solidFill>
              </a:rPr>
              <a:t>Common time</a:t>
            </a:r>
            <a:endParaRPr lang="en-US" sz="1200" dirty="0"/>
          </a:p>
        </p:txBody>
      </p:sp>
      <p:sp>
        <p:nvSpPr>
          <p:cNvPr id="30" name="Text 28"/>
          <p:cNvSpPr txBox="1"/>
          <p:nvPr/>
        </p:nvSpPr>
        <p:spPr>
          <a:xfrm>
            <a:off x="5166360" y="3108960"/>
            <a:ext cx="3383280" cy="274320"/>
          </a:xfrm>
          <a:prstGeom prst="rect">
            <a:avLst/>
          </a:prstGeom>
          <a:noFill/>
          <a:ln/>
        </p:spPr>
        <p:txBody>
          <a:bodyPr wrap="square" lIns="0" tIns="0" rIns="0" bIns="0" rtlCol="0" anchor="ctr"/>
          <a:lstStyle/>
          <a:p>
            <a:pPr indent="0" marL="0">
              <a:buNone/>
            </a:pPr>
            <a:r>
              <a:rPr lang="en-US" sz="1200" i="1" dirty="0">
                <a:solidFill>
                  <a:schemeClr val="accent5"/>
                </a:solidFill>
              </a:rPr>
              <a:t>three cycles → one meeting point</a:t>
            </a:r>
            <a:endParaRPr lang="en-US" sz="1200" dirty="0"/>
          </a:p>
        </p:txBody>
      </p:sp>
      <p:sp>
        <p:nvSpPr>
          <p:cNvPr id="31" name="Motivation panel"/>
          <p:cNvSpPr/>
          <p:nvPr/>
        </p:nvSpPr>
        <p:spPr>
          <a:xfrm>
            <a:off x="457200" y="3657600"/>
            <a:ext cx="8229600" cy="960120"/>
          </a:xfrm>
          <a:prstGeom prst="roundRect">
            <a:avLst>
              <a:gd name="adj" fmla="val 11429"/>
            </a:avLst>
          </a:prstGeom>
          <a:solidFill>
            <a:schemeClr val="accent2">
              <a:alpha val="18000"/>
            </a:schemeClr>
          </a:solidFill>
          <a:ln/>
        </p:spPr>
      </p:sp>
      <p:sp>
        <p:nvSpPr>
          <p:cNvPr id="32" name="Text 30"/>
          <p:cNvSpPr txBox="1"/>
          <p:nvPr/>
        </p:nvSpPr>
        <p:spPr>
          <a:xfrm>
            <a:off x="640080" y="3657600"/>
            <a:ext cx="7863840" cy="960120"/>
          </a:xfrm>
          <a:prstGeom prst="rect">
            <a:avLst/>
          </a:prstGeom>
          <a:noFill/>
          <a:ln/>
        </p:spPr>
        <p:txBody>
          <a:bodyPr wrap="square" lIns="0" tIns="0" rIns="0" bIns="0" rtlCol="0" anchor="ctr"/>
          <a:lstStyle/>
          <a:p>
            <a:pPr indent="0" marL="0">
              <a:spcAft>
                <a:spcPts val="300"/>
              </a:spcAft>
              <a:buNone/>
            </a:pPr>
            <a:r>
              <a:rPr lang="en-US" sz="1400" b="1" dirty="0">
                <a:solidFill>
                  <a:schemeClr val="tx2"/>
                </a:solidFill>
              </a:rPr>
              <a:t>Why it matters: coordinated signals help vehicles move smoothly along a road.</a:t>
            </a:r>
            <a:endParaRPr lang="en-US" sz="1400" dirty="0"/>
          </a:p>
          <a:p>
            <a:pPr indent="0" marL="0">
              <a:spcAft>
                <a:spcPts val="300"/>
              </a:spcAft>
              <a:buNone/>
            </a:pPr>
            <a:r>
              <a:rPr lang="en-US" sz="1400" dirty="0">
                <a:solidFill>
                  <a:schemeClr val="tx1"/>
                </a:solidFill>
              </a:rPr>
              <a:t>Real optimization also needs green durations, traffic demand, pedestrian crossings, safety limits and vehicle flow.</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Mathematical Model</a:t>
            </a:r>
            <a:endParaRPr lang="en-US" sz="3000" dirty="0"/>
          </a:p>
        </p:txBody>
      </p:sp>
      <p:sp>
        <p:nvSpPr>
          <p:cNvPr id="3" name="Equation panel"/>
          <p:cNvSpPr/>
          <p:nvPr/>
        </p:nvSpPr>
        <p:spPr>
          <a:xfrm>
            <a:off x="457200" y="1051560"/>
            <a:ext cx="4023360" cy="2514600"/>
          </a:xfrm>
          <a:prstGeom prst="roundRect">
            <a:avLst>
              <a:gd name="adj" fmla="val 4364"/>
            </a:avLst>
          </a:prstGeom>
          <a:solidFill>
            <a:schemeClr val="tx2"/>
          </a:solidFill>
          <a:ln/>
        </p:spPr>
      </p:sp>
      <p:sp>
        <p:nvSpPr>
          <p:cNvPr id="4" name="Text 2"/>
          <p:cNvSpPr txBox="1"/>
          <p:nvPr/>
        </p:nvSpPr>
        <p:spPr>
          <a:xfrm>
            <a:off x="685800" y="1143000"/>
            <a:ext cx="3657600" cy="365760"/>
          </a:xfrm>
          <a:prstGeom prst="rect">
            <a:avLst/>
          </a:prstGeom>
          <a:noFill/>
          <a:ln/>
        </p:spPr>
        <p:txBody>
          <a:bodyPr wrap="square" lIns="0" tIns="0" rIns="0" bIns="0" rtlCol="0" anchor="ctr"/>
          <a:lstStyle/>
          <a:p>
            <a:pPr indent="0" marL="0">
              <a:buNone/>
            </a:pPr>
            <a:r>
              <a:rPr lang="en-US" sz="1400" dirty="0">
                <a:solidFill>
                  <a:schemeClr val="bg2"/>
                </a:solidFill>
              </a:rPr>
              <a:t>Let  t = elapsed time (minutes)</a:t>
            </a:r>
            <a:endParaRPr lang="en-US" sz="1400" dirty="0"/>
          </a:p>
        </p:txBody>
      </p:sp>
      <p:sp>
        <p:nvSpPr>
          <p:cNvPr id="5" name="Text 3"/>
          <p:cNvSpPr txBox="1"/>
          <p:nvPr/>
        </p:nvSpPr>
        <p:spPr>
          <a:xfrm>
            <a:off x="685800" y="1600200"/>
            <a:ext cx="3657600" cy="1737360"/>
          </a:xfrm>
          <a:prstGeom prst="rect">
            <a:avLst/>
          </a:prstGeom>
          <a:noFill/>
          <a:ln/>
        </p:spPr>
        <p:txBody>
          <a:bodyPr wrap="square" lIns="0" tIns="0" rIns="0" bIns="0" rtlCol="0" anchor="ctr"/>
          <a:lstStyle/>
          <a:p>
            <a:pPr indent="0" marL="0">
              <a:spcAft>
                <a:spcPts val="600"/>
              </a:spcAft>
              <a:buNone/>
            </a:pPr>
            <a:r>
              <a:rPr lang="en-US" sz="2800" b="1" dirty="0">
                <a:solidFill>
                  <a:schemeClr val="bg1"/>
                </a:solidFill>
              </a:rPr>
              <a:t>t ≡ 0  (mod 3)</a:t>
            </a:r>
            <a:endParaRPr lang="en-US" sz="2800" dirty="0"/>
          </a:p>
          <a:p>
            <a:pPr indent="0" marL="0">
              <a:spcAft>
                <a:spcPts val="600"/>
              </a:spcAft>
              <a:buNone/>
            </a:pPr>
            <a:r>
              <a:rPr lang="en-US" sz="2800" b="1" dirty="0">
                <a:solidFill>
                  <a:schemeClr val="bg1"/>
                </a:solidFill>
              </a:rPr>
              <a:t>t ≡ 0  (mod 5)</a:t>
            </a:r>
            <a:endParaRPr lang="en-US" sz="2800" dirty="0"/>
          </a:p>
          <a:p>
            <a:pPr indent="0" marL="0">
              <a:spcAft>
                <a:spcPts val="600"/>
              </a:spcAft>
              <a:buNone/>
            </a:pPr>
            <a:r>
              <a:rPr lang="en-US" sz="2800" b="1" dirty="0">
                <a:solidFill>
                  <a:schemeClr val="bg1"/>
                </a:solidFill>
              </a:rPr>
              <a:t>t ≡ 0  (mod 7)</a:t>
            </a:r>
            <a:endParaRPr lang="en-US" sz="2800" dirty="0"/>
          </a:p>
        </p:txBody>
      </p:sp>
      <p:sp>
        <p:nvSpPr>
          <p:cNvPr id="6" name="Meaning panel"/>
          <p:cNvSpPr/>
          <p:nvPr/>
        </p:nvSpPr>
        <p:spPr>
          <a:xfrm>
            <a:off x="4663440" y="1051560"/>
            <a:ext cx="4023360" cy="2514600"/>
          </a:xfrm>
          <a:prstGeom prst="roundRect">
            <a:avLst>
              <a:gd name="adj" fmla="val 4364"/>
            </a:avLst>
          </a:prstGeom>
          <a:solidFill>
            <a:schemeClr val="bg2"/>
          </a:solidFill>
          <a:ln/>
        </p:spPr>
      </p:sp>
      <p:sp>
        <p:nvSpPr>
          <p:cNvPr id="7" name="Text 5"/>
          <p:cNvSpPr txBox="1"/>
          <p:nvPr/>
        </p:nvSpPr>
        <p:spPr>
          <a:xfrm>
            <a:off x="4846320" y="1143000"/>
            <a:ext cx="3657600" cy="23317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What does “mod” mean?</a:t>
            </a:r>
            <a:endParaRPr lang="en-US" sz="1600" dirty="0"/>
          </a:p>
          <a:p>
            <a:pPr indent="0" marL="0">
              <a:spcAft>
                <a:spcPts val="600"/>
              </a:spcAft>
              <a:buNone/>
            </a:pPr>
            <a:r>
              <a:rPr lang="en-US" sz="1400" dirty="0">
                <a:solidFill>
                  <a:schemeClr val="tx1"/>
                </a:solidFill>
              </a:rPr>
              <a:t>a ≡ b (mod m) means a and b leave the same remainder when divided by m.</a:t>
            </a:r>
            <a:endParaRPr lang="en-US" sz="1600" dirty="0"/>
          </a:p>
          <a:p>
            <a:pPr indent="0" marL="0">
              <a:spcAft>
                <a:spcPts val="600"/>
              </a:spcAft>
              <a:buNone/>
            </a:pPr>
            <a:r>
              <a:rPr lang="en-US" sz="1400" b="1" dirty="0">
                <a:solidFill>
                  <a:schemeClr val="tx2"/>
                </a:solidFill>
              </a:rPr>
              <a:t>So t ≡ 0 (mod 3) says: t is a multiple of 3.</a:t>
            </a:r>
            <a:endParaRPr lang="en-US" sz="1600" dirty="0"/>
          </a:p>
          <a:p>
            <a:pPr indent="0" marL="0">
              <a:spcAft>
                <a:spcPts val="600"/>
              </a:spcAft>
              <a:buNone/>
            </a:pPr>
            <a:r>
              <a:rPr lang="en-US" sz="1400" dirty="0">
                <a:solidFill>
                  <a:schemeClr val="tx1"/>
                </a:solidFill>
              </a:rPr>
              <a:t>Example: 9 ÷ 3 leaves 0, so 9 ≡ 0 (mod 3); 10 ÷ 3 leaves 1.</a:t>
            </a:r>
            <a:endParaRPr lang="en-US" sz="1600" dirty="0"/>
          </a:p>
        </p:txBody>
      </p:sp>
      <p:sp>
        <p:nvSpPr>
          <p:cNvPr id="8" name="Assumption panel"/>
          <p:cNvSpPr/>
          <p:nvPr/>
        </p:nvSpPr>
        <p:spPr>
          <a:xfrm>
            <a:off x="457200" y="3703320"/>
            <a:ext cx="8229600" cy="914400"/>
          </a:xfrm>
          <a:prstGeom prst="roundRect">
            <a:avLst>
              <a:gd name="adj" fmla="val 12000"/>
            </a:avLst>
          </a:prstGeom>
          <a:solidFill>
            <a:schemeClr val="accent2">
              <a:alpha val="18000"/>
            </a:schemeClr>
          </a:solidFill>
          <a:ln/>
        </p:spPr>
      </p:sp>
      <p:sp>
        <p:nvSpPr>
          <p:cNvPr id="9" name="Text 7"/>
          <p:cNvSpPr txBox="1"/>
          <p:nvPr/>
        </p:nvSpPr>
        <p:spPr>
          <a:xfrm>
            <a:off x="640080" y="3703320"/>
            <a:ext cx="7863840" cy="914400"/>
          </a:xfrm>
          <a:prstGeom prst="rect">
            <a:avLst/>
          </a:prstGeom>
          <a:noFill/>
          <a:ln/>
        </p:spPr>
        <p:txBody>
          <a:bodyPr wrap="square" lIns="0" tIns="0" rIns="0" bIns="0" rtlCol="0" anchor="ctr"/>
          <a:lstStyle/>
          <a:p>
            <a:pPr indent="0" marL="0">
              <a:spcAft>
                <a:spcPts val="300"/>
              </a:spcAft>
              <a:buNone/>
            </a:pPr>
            <a:r>
              <a:rPr lang="en-US" sz="1400" b="1" dirty="0">
                <a:solidFill>
                  <a:schemeClr val="tx2"/>
                </a:solidFill>
              </a:rPr>
              <a:t>Assumption: all signals start a cycle at t = 0, and each repeats a complete cycle every 3, 5, 7 minutes.</a:t>
            </a:r>
            <a:endParaRPr lang="en-US" sz="1400" dirty="0"/>
          </a:p>
          <a:p>
            <a:pPr indent="0" marL="0">
              <a:spcAft>
                <a:spcPts val="300"/>
              </a:spcAft>
              <a:buNone/>
            </a:pPr>
            <a:r>
              <a:rPr lang="en-US" sz="1400" dirty="0">
                <a:solidFill>
                  <a:schemeClr val="tx1"/>
                </a:solidFill>
              </a:rPr>
              <a:t>The equations track when a cycle starts again, not how long the green phase lasts.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The Chinese Remainder Theorem</a:t>
            </a:r>
            <a:endParaRPr lang="en-US" sz="3000" dirty="0"/>
          </a:p>
        </p:txBody>
      </p:sp>
      <p:sp>
        <p:nvSpPr>
          <p:cNvPr id="3" name="Congruence panel"/>
          <p:cNvSpPr/>
          <p:nvPr/>
        </p:nvSpPr>
        <p:spPr>
          <a:xfrm>
            <a:off x="457200" y="1051560"/>
            <a:ext cx="4114800" cy="1143000"/>
          </a:xfrm>
          <a:prstGeom prst="roundRect">
            <a:avLst>
              <a:gd name="adj" fmla="val 9600"/>
            </a:avLst>
          </a:prstGeom>
          <a:solidFill>
            <a:schemeClr val="bg2"/>
          </a:solidFill>
          <a:ln/>
        </p:spPr>
      </p:sp>
      <p:sp>
        <p:nvSpPr>
          <p:cNvPr id="4" name="Text 2"/>
          <p:cNvSpPr txBox="1"/>
          <p:nvPr/>
        </p:nvSpPr>
        <p:spPr>
          <a:xfrm>
            <a:off x="640080" y="1051560"/>
            <a:ext cx="3749040" cy="114300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Congruence: t ≡ a (mod m)</a:t>
            </a:r>
            <a:endParaRPr lang="en-US" sz="1600" dirty="0"/>
          </a:p>
          <a:p>
            <a:pPr indent="0" marL="0">
              <a:spcAft>
                <a:spcPts val="400"/>
              </a:spcAft>
              <a:buNone/>
            </a:pPr>
            <a:r>
              <a:rPr lang="en-US" sz="1400" dirty="0">
                <a:solidFill>
                  <a:schemeClr val="tx1"/>
                </a:solidFill>
              </a:rPr>
              <a:t>t leaves remainder a when divided by m. The moduli m are the cycle lengths.</a:t>
            </a:r>
            <a:endParaRPr lang="en-US" sz="1600" dirty="0"/>
          </a:p>
        </p:txBody>
      </p:sp>
      <p:sp>
        <p:nvSpPr>
          <p:cNvPr id="5" name="Theorem panel"/>
          <p:cNvSpPr/>
          <p:nvPr/>
        </p:nvSpPr>
        <p:spPr>
          <a:xfrm>
            <a:off x="457200" y="2331720"/>
            <a:ext cx="4114800" cy="2286000"/>
          </a:xfrm>
          <a:prstGeom prst="roundRect">
            <a:avLst>
              <a:gd name="adj" fmla="val 4800"/>
            </a:avLst>
          </a:prstGeom>
          <a:solidFill>
            <a:schemeClr val="tx2"/>
          </a:solidFill>
          <a:ln/>
        </p:spPr>
      </p:sp>
      <p:sp>
        <p:nvSpPr>
          <p:cNvPr id="6" name="Text 4"/>
          <p:cNvSpPr txBox="1"/>
          <p:nvPr/>
        </p:nvSpPr>
        <p:spPr>
          <a:xfrm>
            <a:off x="640080" y="2377440"/>
            <a:ext cx="3749040" cy="2194560"/>
          </a:xfrm>
          <a:prstGeom prst="rect">
            <a:avLst/>
          </a:prstGeom>
          <a:noFill/>
          <a:ln/>
        </p:spPr>
        <p:txBody>
          <a:bodyPr wrap="square" lIns="0" tIns="0" rIns="0" bIns="0" rtlCol="0" anchor="ctr"/>
          <a:lstStyle/>
          <a:p>
            <a:pPr indent="0" marL="0">
              <a:spcAft>
                <a:spcPts val="500"/>
              </a:spcAft>
              <a:buNone/>
            </a:pPr>
            <a:r>
              <a:rPr lang="en-US" sz="1600" b="1" dirty="0">
                <a:solidFill>
                  <a:schemeClr val="accent2"/>
                </a:solidFill>
              </a:rPr>
              <a:t>Theorem (CRT)</a:t>
            </a:r>
            <a:endParaRPr lang="en-US" sz="1600" dirty="0"/>
          </a:p>
          <a:p>
            <a:pPr indent="0" marL="0">
              <a:spcAft>
                <a:spcPts val="500"/>
              </a:spcAft>
              <a:buNone/>
            </a:pPr>
            <a:r>
              <a:rPr lang="en-US" sz="1400" dirty="0">
                <a:solidFill>
                  <a:schemeClr val="bg1"/>
                </a:solidFill>
              </a:rPr>
              <a:t>If m</a:t>
            </a:r>
            <a:pPr indent="0" marL="0">
              <a:spcAft>
                <a:spcPts val="500"/>
              </a:spcAft>
              <a:buNone/>
            </a:pPr>
            <a:r>
              <a:rPr lang="en-US" sz="1400" baseline="-40000" dirty="0">
                <a:solidFill>
                  <a:schemeClr val="bg1"/>
                </a:solidFill>
              </a:rPr>
              <a:t>1</a:t>
            </a:r>
            <a:pPr indent="0" marL="0">
              <a:spcAft>
                <a:spcPts val="500"/>
              </a:spcAft>
              <a:buNone/>
            </a:pPr>
            <a:r>
              <a:rPr lang="en-US" sz="1400" dirty="0">
                <a:solidFill>
                  <a:schemeClr val="bg1"/>
                </a:solidFill>
              </a:rPr>
              <a:t>, m</a:t>
            </a:r>
            <a:pPr indent="0" marL="0">
              <a:spcAft>
                <a:spcPts val="500"/>
              </a:spcAft>
              <a:buNone/>
            </a:pPr>
            <a:r>
              <a:rPr lang="en-US" sz="1400" baseline="-40000" dirty="0">
                <a:solidFill>
                  <a:schemeClr val="bg1"/>
                </a:solidFill>
              </a:rPr>
              <a:t>2</a:t>
            </a:r>
            <a:pPr indent="0" marL="0">
              <a:spcAft>
                <a:spcPts val="500"/>
              </a:spcAft>
              <a:buNone/>
            </a:pPr>
            <a:r>
              <a:rPr lang="en-US" sz="1400" dirty="0">
                <a:solidFill>
                  <a:schemeClr val="bg1"/>
                </a:solidFill>
              </a:rPr>
              <a:t>, …, m</a:t>
            </a:r>
            <a:pPr indent="0" marL="0">
              <a:spcAft>
                <a:spcPts val="500"/>
              </a:spcAft>
              <a:buNone/>
            </a:pPr>
            <a:r>
              <a:rPr lang="en-US" sz="1400" baseline="-40000" dirty="0">
                <a:solidFill>
                  <a:schemeClr val="bg1"/>
                </a:solidFill>
              </a:rPr>
              <a:t>n</a:t>
            </a:r>
            <a:pPr indent="0" marL="0">
              <a:spcAft>
                <a:spcPts val="500"/>
              </a:spcAft>
              <a:buNone/>
            </a:pPr>
            <a:r>
              <a:rPr lang="en-US" sz="1400" dirty="0">
                <a:solidFill>
                  <a:schemeClr val="bg1"/>
                </a:solidFill>
              </a:rPr>
              <a:t> are pairwise coprime positive integers, the system</a:t>
            </a:r>
            <a:endParaRPr lang="en-US" sz="1600" dirty="0"/>
          </a:p>
          <a:p>
            <a:pPr indent="0" marL="0">
              <a:spcAft>
                <a:spcPts val="500"/>
              </a:spcAft>
              <a:buNone/>
            </a:pPr>
            <a:r>
              <a:rPr lang="en-US" sz="1500" b="1" dirty="0">
                <a:solidFill>
                  <a:schemeClr val="bg1"/>
                </a:solidFill>
              </a:rPr>
              <a:t>t ≡ a</a:t>
            </a:r>
            <a:pPr indent="0" marL="0">
              <a:spcAft>
                <a:spcPts val="500"/>
              </a:spcAft>
              <a:buNone/>
            </a:pPr>
            <a:r>
              <a:rPr lang="en-US" sz="1500" b="1" baseline="-40000" dirty="0">
                <a:solidFill>
                  <a:schemeClr val="bg1"/>
                </a:solidFill>
              </a:rPr>
              <a:t>1</a:t>
            </a:r>
            <a:pPr indent="0" marL="0">
              <a:spcAft>
                <a:spcPts val="500"/>
              </a:spcAft>
              <a:buNone/>
            </a:pPr>
            <a:r>
              <a:rPr lang="en-US" sz="1500" b="1" dirty="0">
                <a:solidFill>
                  <a:schemeClr val="bg1"/>
                </a:solidFill>
              </a:rPr>
              <a:t> (mod m</a:t>
            </a:r>
            <a:pPr indent="0" marL="0">
              <a:spcAft>
                <a:spcPts val="500"/>
              </a:spcAft>
              <a:buNone/>
            </a:pPr>
            <a:r>
              <a:rPr lang="en-US" sz="1500" b="1" baseline="-40000" dirty="0">
                <a:solidFill>
                  <a:schemeClr val="bg1"/>
                </a:solidFill>
              </a:rPr>
              <a:t>1</a:t>
            </a:r>
            <a:pPr indent="0" marL="0">
              <a:spcAft>
                <a:spcPts val="500"/>
              </a:spcAft>
              <a:buNone/>
            </a:pPr>
            <a:r>
              <a:rPr lang="en-US" sz="1500" b="1" dirty="0">
                <a:solidFill>
                  <a:schemeClr val="bg1"/>
                </a:solidFill>
              </a:rPr>
              <a:t>), …, t ≡ a</a:t>
            </a:r>
            <a:pPr indent="0" marL="0">
              <a:spcAft>
                <a:spcPts val="500"/>
              </a:spcAft>
              <a:buNone/>
            </a:pPr>
            <a:r>
              <a:rPr lang="en-US" sz="1500" b="1" baseline="-40000" dirty="0">
                <a:solidFill>
                  <a:schemeClr val="bg1"/>
                </a:solidFill>
              </a:rPr>
              <a:t>n</a:t>
            </a:r>
            <a:pPr indent="0" marL="0">
              <a:spcAft>
                <a:spcPts val="500"/>
              </a:spcAft>
              <a:buNone/>
            </a:pPr>
            <a:r>
              <a:rPr lang="en-US" sz="1500" b="1" dirty="0">
                <a:solidFill>
                  <a:schemeClr val="bg1"/>
                </a:solidFill>
              </a:rPr>
              <a:t> (mod m</a:t>
            </a:r>
            <a:pPr indent="0" marL="0">
              <a:spcAft>
                <a:spcPts val="500"/>
              </a:spcAft>
              <a:buNone/>
            </a:pPr>
            <a:r>
              <a:rPr lang="en-US" sz="1500" b="1" baseline="-40000" dirty="0">
                <a:solidFill>
                  <a:schemeClr val="bg1"/>
                </a:solidFill>
              </a:rPr>
              <a:t>n</a:t>
            </a:r>
            <a:pPr indent="0" marL="0">
              <a:spcAft>
                <a:spcPts val="500"/>
              </a:spcAft>
              <a:buNone/>
            </a:pPr>
            <a:r>
              <a:rPr lang="en-US" sz="1500" b="1" dirty="0">
                <a:solidFill>
                  <a:schemeClr val="bg1"/>
                </a:solidFill>
              </a:rPr>
              <a:t>)</a:t>
            </a:r>
            <a:endParaRPr lang="en-US" sz="1600" dirty="0"/>
          </a:p>
          <a:p>
            <a:pPr indent="0" marL="0">
              <a:spcAft>
                <a:spcPts val="500"/>
              </a:spcAft>
              <a:buNone/>
            </a:pPr>
            <a:r>
              <a:rPr lang="en-US" sz="1400" dirty="0">
                <a:solidFill>
                  <a:schemeClr val="bg1"/>
                </a:solidFill>
              </a:rPr>
              <a:t>has a unique solution modulo M = m</a:t>
            </a:r>
            <a:pPr indent="0" marL="0">
              <a:spcAft>
                <a:spcPts val="500"/>
              </a:spcAft>
              <a:buNone/>
            </a:pPr>
            <a:r>
              <a:rPr lang="en-US" sz="1400" baseline="-40000" dirty="0">
                <a:solidFill>
                  <a:schemeClr val="bg1"/>
                </a:solidFill>
              </a:rPr>
              <a:t>1</a:t>
            </a:r>
            <a:pPr indent="0" marL="0">
              <a:spcAft>
                <a:spcPts val="500"/>
              </a:spcAft>
              <a:buNone/>
            </a:pPr>
            <a:r>
              <a:rPr lang="en-US" sz="1400" dirty="0">
                <a:solidFill>
                  <a:schemeClr val="bg1"/>
                </a:solidFill>
              </a:rPr>
              <a:t> × m</a:t>
            </a:r>
            <a:pPr indent="0" marL="0">
              <a:spcAft>
                <a:spcPts val="500"/>
              </a:spcAft>
              <a:buNone/>
            </a:pPr>
            <a:r>
              <a:rPr lang="en-US" sz="1400" baseline="-40000" dirty="0">
                <a:solidFill>
                  <a:schemeClr val="bg1"/>
                </a:solidFill>
              </a:rPr>
              <a:t>2</a:t>
            </a:r>
            <a:pPr indent="0" marL="0">
              <a:spcAft>
                <a:spcPts val="500"/>
              </a:spcAft>
              <a:buNone/>
            </a:pPr>
            <a:r>
              <a:rPr lang="en-US" sz="1400" dirty="0">
                <a:solidFill>
                  <a:schemeClr val="bg1"/>
                </a:solidFill>
              </a:rPr>
              <a:t> × … × m</a:t>
            </a:r>
            <a:pPr indent="0" marL="0">
              <a:spcAft>
                <a:spcPts val="500"/>
              </a:spcAft>
              <a:buNone/>
            </a:pPr>
            <a:r>
              <a:rPr lang="en-US" sz="1400" baseline="-40000" dirty="0">
                <a:solidFill>
                  <a:schemeClr val="bg1"/>
                </a:solidFill>
              </a:rPr>
              <a:t>n</a:t>
            </a:r>
            <a:pPr indent="0" marL="0">
              <a:spcAft>
                <a:spcPts val="500"/>
              </a:spcAft>
              <a:buNone/>
            </a:pPr>
            <a:r>
              <a:rPr lang="en-US" sz="1400" dirty="0">
                <a:solidFill>
                  <a:schemeClr val="bg1"/>
                </a:solidFill>
              </a:rPr>
              <a:t>.</a:t>
            </a:r>
            <a:endParaRPr lang="en-US" sz="1600" dirty="0"/>
          </a:p>
        </p:txBody>
      </p:sp>
      <p:sp>
        <p:nvSpPr>
          <p:cNvPr id="7" name="Text 5"/>
          <p:cNvSpPr txBox="1"/>
          <p:nvPr/>
        </p:nvSpPr>
        <p:spPr>
          <a:xfrm>
            <a:off x="4846320" y="1051560"/>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Coprime check (gcd = greatest common divisor)</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3840480" cy="914400"/>
        </p:xfrm>
        <a:graphic>
          <a:graphicData uri="http://schemas.openxmlformats.org/drawingml/2006/table">
            <a:tbl>
              <a:tblPr/>
              <a:tblGrid>
                <a:gridCol w="1280160"/>
                <a:gridCol w="1097280"/>
                <a:gridCol w="1463040"/>
              </a:tblGrid>
              <a:tr h="329184">
                <a:tc>
                  <a:txBody>
                    <a:bodyPr/>
                    <a:lstStyle/>
                    <a:p>
                      <a:pPr algn="ctr" indent="0" marL="0">
                        <a:buNone/>
                      </a:pPr>
                      <a:r>
                        <a:rPr lang="en-US" sz="1400" b="1" dirty="0">
                          <a:solidFill>
                            <a:schemeClr val="bg1"/>
                          </a:solidFill>
                        </a:rPr>
                        <a:t>Pair</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gcd</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Coprime?</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r>
              <a:tr h="329184">
                <a:tc>
                  <a:txBody>
                    <a:bodyPr/>
                    <a:lstStyle/>
                    <a:p>
                      <a:pPr algn="ctr" indent="0" marL="0">
                        <a:buNone/>
                      </a:pPr>
                      <a:r>
                        <a:rPr lang="en-US" sz="1400" dirty="0">
                          <a:solidFill>
                            <a:schemeClr val="tx1"/>
                          </a:solidFill>
                        </a:rPr>
                        <a:t>(3, 5)</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Yes ✓</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329184">
                <a:tc>
                  <a:txBody>
                    <a:bodyPr/>
                    <a:lstStyle/>
                    <a:p>
                      <a:pPr algn="ctr" indent="0" marL="0">
                        <a:buNone/>
                      </a:pPr>
                      <a:r>
                        <a:rPr lang="en-US" sz="1400" dirty="0">
                          <a:solidFill>
                            <a:schemeClr val="tx1"/>
                          </a:solidFill>
                        </a:rPr>
                        <a:t>(3, 7)</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Yes ✓</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329184">
                <a:tc>
                  <a:txBody>
                    <a:bodyPr/>
                    <a:lstStyle/>
                    <a:p>
                      <a:pPr algn="ctr" indent="0" marL="0">
                        <a:buNone/>
                      </a:pPr>
                      <a:r>
                        <a:rPr lang="en-US" sz="1400" dirty="0">
                          <a:solidFill>
                            <a:schemeClr val="tx1"/>
                          </a:solidFill>
                        </a:rPr>
                        <a:t>(5, 7)</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Yes ✓</a:t>
                      </a:r>
                      <a:endParaRPr lang="en-US" sz="1400" dirty="0"/>
                    </a:p>
                  </a:txBody>
                  <a:tcPr marL="91440" marR="91440"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9" name="Product panel"/>
          <p:cNvSpPr/>
          <p:nvPr/>
        </p:nvSpPr>
        <p:spPr>
          <a:xfrm>
            <a:off x="4846320" y="2834640"/>
            <a:ext cx="3840480" cy="640080"/>
          </a:xfrm>
          <a:prstGeom prst="roundRect">
            <a:avLst>
              <a:gd name="adj" fmla="val 17143"/>
            </a:avLst>
          </a:prstGeom>
          <a:solidFill>
            <a:schemeClr val="accent3">
              <a:alpha val="20000"/>
            </a:schemeClr>
          </a:solidFill>
          <a:ln/>
        </p:spPr>
      </p:sp>
      <p:sp>
        <p:nvSpPr>
          <p:cNvPr id="10" name="Text 7"/>
          <p:cNvSpPr txBox="1"/>
          <p:nvPr/>
        </p:nvSpPr>
        <p:spPr>
          <a:xfrm>
            <a:off x="4846320" y="2834640"/>
            <a:ext cx="3840480" cy="640080"/>
          </a:xfrm>
          <a:prstGeom prst="rect">
            <a:avLst/>
          </a:prstGeom>
          <a:noFill/>
          <a:ln/>
        </p:spPr>
        <p:txBody>
          <a:bodyPr wrap="square" lIns="0" tIns="0" rIns="0" bIns="0" rtlCol="0" anchor="ctr"/>
          <a:lstStyle/>
          <a:p>
            <a:pPr algn="ctr" indent="0" marL="0">
              <a:buNone/>
            </a:pPr>
            <a:r>
              <a:rPr lang="en-US" sz="2400" b="1" dirty="0">
                <a:solidFill>
                  <a:schemeClr val="tx2"/>
                </a:solidFill>
              </a:rPr>
              <a:t>M = 3 × 5 × 7 = 105</a:t>
            </a:r>
            <a:endParaRPr lang="en-US" sz="2400" dirty="0"/>
          </a:p>
        </p:txBody>
      </p:sp>
      <p:sp>
        <p:nvSpPr>
          <p:cNvPr id="11" name="Why coprime panel"/>
          <p:cNvSpPr/>
          <p:nvPr/>
        </p:nvSpPr>
        <p:spPr>
          <a:xfrm>
            <a:off x="4846320" y="3611880"/>
            <a:ext cx="3840480" cy="1005840"/>
          </a:xfrm>
          <a:prstGeom prst="roundRect">
            <a:avLst>
              <a:gd name="adj" fmla="val 10909"/>
            </a:avLst>
          </a:prstGeom>
          <a:solidFill>
            <a:schemeClr val="accent2">
              <a:alpha val="18000"/>
            </a:schemeClr>
          </a:solidFill>
          <a:ln/>
        </p:spPr>
      </p:sp>
      <p:sp>
        <p:nvSpPr>
          <p:cNvPr id="12" name="Text 9"/>
          <p:cNvSpPr txBox="1"/>
          <p:nvPr/>
        </p:nvSpPr>
        <p:spPr>
          <a:xfrm>
            <a:off x="4983480" y="3611880"/>
            <a:ext cx="3566160" cy="1005840"/>
          </a:xfrm>
          <a:prstGeom prst="rect">
            <a:avLst/>
          </a:prstGeom>
          <a:noFill/>
          <a:ln/>
        </p:spPr>
        <p:txBody>
          <a:bodyPr wrap="square" lIns="0" tIns="0" rIns="0" bIns="0" rtlCol="0" anchor="ctr"/>
          <a:lstStyle/>
          <a:p>
            <a:pPr indent="0" marL="0">
              <a:buNone/>
            </a:pPr>
            <a:r>
              <a:rPr lang="en-US" sz="1400" b="1" dirty="0">
                <a:solidFill>
                  <a:schemeClr val="tx2"/>
                </a:solidFill>
              </a:rPr>
              <a:t>Why it matters: </a:t>
            </a:r>
            <a:endParaRPr lang="en-US" sz="1400" dirty="0"/>
          </a:p>
          <a:p>
            <a:pPr indent="0" marL="0">
              <a:buNone/>
            </a:pPr>
            <a:r>
              <a:rPr lang="en-US" sz="1400" dirty="0">
                <a:solidFill>
                  <a:schemeClr val="tx1"/>
                </a:solidFill>
              </a:rPr>
              <a:t>if cycles share a factor, they meet sooner than the product. Cycles 4 and 6 repeat together every 12, not 24.</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Step 1: Form the Congruences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2377440"/>
                <a:gridCol w="3657600"/>
              </a:tblGrid>
              <a:tr h="420624">
                <a:tc>
                  <a:txBody>
                    <a:bodyPr/>
                    <a:lstStyle/>
                    <a:p>
                      <a:pPr algn="ctr" indent="0" marL="0">
                        <a:buNone/>
                      </a:pPr>
                      <a:r>
                        <a:rPr lang="en-US" sz="1600" b="1" dirty="0">
                          <a:solidFill>
                            <a:schemeClr val="bg1"/>
                          </a:solidFill>
                        </a:rPr>
                        <a:t>Signal</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Cycle Interval</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rPr>
                        <a:t>Mathematical Condition</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r>
              <a:tr h="420624">
                <a:tc>
                  <a:txBody>
                    <a:bodyPr/>
                    <a:lstStyle/>
                    <a:p>
                      <a:pPr algn="ctr" indent="0" marL="0">
                        <a:buNone/>
                      </a:pPr>
                      <a:r>
                        <a:rPr lang="en-US" sz="1600" b="1" dirty="0">
                          <a:solidFill>
                            <a:schemeClr val="accent1"/>
                          </a:solidFill>
                        </a:rPr>
                        <a:t>Signal A</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 minutes</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tx2"/>
                          </a:solidFill>
                        </a:rPr>
                        <a:t>t ≡ 0 (mod 3)</a:t>
                      </a:r>
                      <a:endParaRPr lang="en-US" sz="18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20624">
                <a:tc>
                  <a:txBody>
                    <a:bodyPr/>
                    <a:lstStyle/>
                    <a:p>
                      <a:pPr algn="ctr" indent="0" marL="0">
                        <a:buNone/>
                      </a:pPr>
                      <a:r>
                        <a:rPr lang="en-US" sz="1600" b="1" dirty="0">
                          <a:solidFill>
                            <a:schemeClr val="accent6"/>
                          </a:solidFill>
                        </a:rPr>
                        <a:t>Signal B</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5 minutes</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tx2"/>
                          </a:solidFill>
                        </a:rPr>
                        <a:t>t ≡ 0 (mod 5)</a:t>
                      </a:r>
                      <a:endParaRPr lang="en-US" sz="18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r h="420624">
                <a:tc>
                  <a:txBody>
                    <a:bodyPr/>
                    <a:lstStyle/>
                    <a:p>
                      <a:pPr algn="ctr" indent="0" marL="0">
                        <a:buNone/>
                      </a:pPr>
                      <a:r>
                        <a:rPr lang="en-US" sz="1600" b="1" dirty="0">
                          <a:solidFill>
                            <a:schemeClr val="accent3"/>
                          </a:solidFill>
                        </a:rPr>
                        <a:t>Signal C</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7 minutes</a:t>
                      </a:r>
                      <a:endParaRPr lang="en-US" sz="16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tx2"/>
                          </a:solidFill>
                        </a:rPr>
                        <a:t>t ≡ 0 (mod 7)</a:t>
                      </a:r>
                      <a:endParaRPr lang="en-US" sz="1800" dirty="0"/>
                    </a:p>
                  </a:txBody>
                  <a:tcPr marL="91440" marR="91440" marT="45720" marB="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2"/>
                    </a:solidFill>
                  </a:tcPr>
                </a:tc>
              </a:tr>
            </a:tbl>
          </a:graphicData>
        </a:graphic>
      </p:graphicFrame>
      <p:sp>
        <p:nvSpPr>
          <p:cNvPr id="4" name="Explain card A"/>
          <p:cNvSpPr/>
          <p:nvPr/>
        </p:nvSpPr>
        <p:spPr>
          <a:xfrm>
            <a:off x="457200" y="3383280"/>
            <a:ext cx="2560320" cy="1234440"/>
          </a:xfrm>
          <a:prstGeom prst="roundRect">
            <a:avLst>
              <a:gd name="adj" fmla="val 8889"/>
            </a:avLst>
          </a:prstGeom>
          <a:solidFill>
            <a:schemeClr val="bg2"/>
          </a:solidFill>
          <a:ln/>
        </p:spPr>
      </p:sp>
      <p:sp>
        <p:nvSpPr>
          <p:cNvPr id="5" name="Explain badge A"/>
          <p:cNvSpPr/>
          <p:nvPr/>
        </p:nvSpPr>
        <p:spPr>
          <a:xfrm>
            <a:off x="594360" y="3502152"/>
            <a:ext cx="365760" cy="365760"/>
          </a:xfrm>
          <a:prstGeom prst="ellipse">
            <a:avLst/>
          </a:prstGeom>
          <a:solidFill>
            <a:schemeClr val="accent1"/>
          </a:solidFill>
          <a:ln/>
        </p:spPr>
      </p:sp>
      <p:sp>
        <p:nvSpPr>
          <p:cNvPr id="6" name="Text 3"/>
          <p:cNvSpPr txBox="1"/>
          <p:nvPr/>
        </p:nvSpPr>
        <p:spPr>
          <a:xfrm>
            <a:off x="594360" y="3502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Text 4"/>
          <p:cNvSpPr txBox="1"/>
          <p:nvPr/>
        </p:nvSpPr>
        <p:spPr>
          <a:xfrm>
            <a:off x="1097280" y="3474720"/>
            <a:ext cx="1828800" cy="109728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t ≡ 0 (mod 3)</a:t>
            </a:r>
            <a:endParaRPr lang="en-US" sz="1600" dirty="0"/>
          </a:p>
          <a:p>
            <a:pPr indent="0" marL="0">
              <a:spcAft>
                <a:spcPts val="300"/>
              </a:spcAft>
              <a:buNone/>
            </a:pPr>
            <a:r>
              <a:rPr lang="en-US" sz="1400" dirty="0">
                <a:solidFill>
                  <a:schemeClr val="tx1"/>
                </a:solidFill>
              </a:rPr>
              <a:t>t is a multiple of 3:</a:t>
            </a:r>
            <a:endParaRPr lang="en-US" sz="1600" dirty="0"/>
          </a:p>
          <a:p>
            <a:pPr indent="0" marL="0">
              <a:spcAft>
                <a:spcPts val="300"/>
              </a:spcAft>
              <a:buNone/>
            </a:pPr>
            <a:r>
              <a:rPr lang="en-US" sz="1400" b="1" dirty="0">
                <a:solidFill>
                  <a:schemeClr val="tx1"/>
                </a:solidFill>
              </a:rPr>
              <a:t>0, 3, 6, 9, …</a:t>
            </a:r>
            <a:endParaRPr lang="en-US" sz="1600" dirty="0"/>
          </a:p>
        </p:txBody>
      </p:sp>
      <p:sp>
        <p:nvSpPr>
          <p:cNvPr id="8" name="Explain card B"/>
          <p:cNvSpPr/>
          <p:nvPr/>
        </p:nvSpPr>
        <p:spPr>
          <a:xfrm>
            <a:off x="3291840" y="3383280"/>
            <a:ext cx="2560320" cy="1234440"/>
          </a:xfrm>
          <a:prstGeom prst="roundRect">
            <a:avLst>
              <a:gd name="adj" fmla="val 8889"/>
            </a:avLst>
          </a:prstGeom>
          <a:solidFill>
            <a:schemeClr val="bg2"/>
          </a:solidFill>
          <a:ln/>
        </p:spPr>
      </p:sp>
      <p:sp>
        <p:nvSpPr>
          <p:cNvPr id="9" name="Explain badge B"/>
          <p:cNvSpPr/>
          <p:nvPr/>
        </p:nvSpPr>
        <p:spPr>
          <a:xfrm>
            <a:off x="3429000" y="3502152"/>
            <a:ext cx="365760" cy="365760"/>
          </a:xfrm>
          <a:prstGeom prst="ellipse">
            <a:avLst/>
          </a:prstGeom>
          <a:solidFill>
            <a:schemeClr val="accent2"/>
          </a:solidFill>
          <a:ln/>
        </p:spPr>
      </p:sp>
      <p:sp>
        <p:nvSpPr>
          <p:cNvPr id="10" name="Text 7"/>
          <p:cNvSpPr txBox="1"/>
          <p:nvPr/>
        </p:nvSpPr>
        <p:spPr>
          <a:xfrm>
            <a:off x="3429000" y="3502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Text 8"/>
          <p:cNvSpPr txBox="1"/>
          <p:nvPr/>
        </p:nvSpPr>
        <p:spPr>
          <a:xfrm>
            <a:off x="3931920" y="3474720"/>
            <a:ext cx="1828800" cy="109728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t ≡ 0 (mod 5)</a:t>
            </a:r>
            <a:endParaRPr lang="en-US" sz="1600" dirty="0"/>
          </a:p>
          <a:p>
            <a:pPr indent="0" marL="0">
              <a:spcAft>
                <a:spcPts val="300"/>
              </a:spcAft>
              <a:buNone/>
            </a:pPr>
            <a:r>
              <a:rPr lang="en-US" sz="1400" dirty="0">
                <a:solidFill>
                  <a:schemeClr val="tx1"/>
                </a:solidFill>
              </a:rPr>
              <a:t>t is a multiple of 5:</a:t>
            </a:r>
            <a:endParaRPr lang="en-US" sz="1600" dirty="0"/>
          </a:p>
          <a:p>
            <a:pPr indent="0" marL="0">
              <a:spcAft>
                <a:spcPts val="300"/>
              </a:spcAft>
              <a:buNone/>
            </a:pPr>
            <a:r>
              <a:rPr lang="en-US" sz="1400" b="1" dirty="0">
                <a:solidFill>
                  <a:schemeClr val="tx1"/>
                </a:solidFill>
              </a:rPr>
              <a:t>0, 5, 10, 15, …</a:t>
            </a:r>
            <a:endParaRPr lang="en-US" sz="1600" dirty="0"/>
          </a:p>
        </p:txBody>
      </p:sp>
      <p:sp>
        <p:nvSpPr>
          <p:cNvPr id="12" name="Explain card C"/>
          <p:cNvSpPr/>
          <p:nvPr/>
        </p:nvSpPr>
        <p:spPr>
          <a:xfrm>
            <a:off x="6126480" y="3383280"/>
            <a:ext cx="2560320" cy="1234440"/>
          </a:xfrm>
          <a:prstGeom prst="roundRect">
            <a:avLst>
              <a:gd name="adj" fmla="val 8889"/>
            </a:avLst>
          </a:prstGeom>
          <a:solidFill>
            <a:schemeClr val="bg2"/>
          </a:solidFill>
          <a:ln/>
        </p:spPr>
      </p:sp>
      <p:sp>
        <p:nvSpPr>
          <p:cNvPr id="13" name="Explain badge C"/>
          <p:cNvSpPr/>
          <p:nvPr/>
        </p:nvSpPr>
        <p:spPr>
          <a:xfrm>
            <a:off x="6263640" y="3502152"/>
            <a:ext cx="365760" cy="365760"/>
          </a:xfrm>
          <a:prstGeom prst="ellipse">
            <a:avLst/>
          </a:prstGeom>
          <a:solidFill>
            <a:schemeClr val="accent3"/>
          </a:solidFill>
          <a:ln/>
        </p:spPr>
      </p:sp>
      <p:sp>
        <p:nvSpPr>
          <p:cNvPr id="14" name="Text 11"/>
          <p:cNvSpPr txBox="1"/>
          <p:nvPr/>
        </p:nvSpPr>
        <p:spPr>
          <a:xfrm>
            <a:off x="6263640" y="3502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Text 12"/>
          <p:cNvSpPr txBox="1"/>
          <p:nvPr/>
        </p:nvSpPr>
        <p:spPr>
          <a:xfrm>
            <a:off x="6766560" y="3474720"/>
            <a:ext cx="1828800" cy="109728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t ≡ 0 (mod 7)</a:t>
            </a:r>
            <a:endParaRPr lang="en-US" sz="1600" dirty="0"/>
          </a:p>
          <a:p>
            <a:pPr indent="0" marL="0">
              <a:spcAft>
                <a:spcPts val="300"/>
              </a:spcAft>
              <a:buNone/>
            </a:pPr>
            <a:r>
              <a:rPr lang="en-US" sz="1400" dirty="0">
                <a:solidFill>
                  <a:schemeClr val="tx1"/>
                </a:solidFill>
              </a:rPr>
              <a:t>t is a multiple of 7:</a:t>
            </a:r>
            <a:endParaRPr lang="en-US" sz="1600" dirty="0"/>
          </a:p>
          <a:p>
            <a:pPr indent="0" marL="0">
              <a:spcAft>
                <a:spcPts val="300"/>
              </a:spcAft>
              <a:buNone/>
            </a:pPr>
            <a:r>
              <a:rPr lang="en-US" sz="1400" b="1" dirty="0">
                <a:solidFill>
                  <a:schemeClr val="tx1"/>
                </a:solidFill>
              </a:rPr>
              <a:t>0, 7, 14, 21, …</a:t>
            </a:r>
            <a:endParaRPr lang="en-US" sz="1600" dirty="0"/>
          </a:p>
        </p:txBody>
      </p:sp>
      <p:sp>
        <p:nvSpPr>
          <p:cNvPr id="16" name="Text 13"/>
          <p:cNvSpPr txBox="1"/>
          <p:nvPr/>
        </p:nvSpPr>
        <p:spPr>
          <a:xfrm>
            <a:off x="457200" y="3017520"/>
            <a:ext cx="8229600" cy="274320"/>
          </a:xfrm>
          <a:prstGeom prst="rect">
            <a:avLst/>
          </a:prstGeom>
          <a:noFill/>
          <a:ln/>
        </p:spPr>
        <p:txBody>
          <a:bodyPr wrap="square" lIns="0" tIns="0" rIns="0" bIns="0" rtlCol="0" anchor="ctr"/>
          <a:lstStyle/>
          <a:p>
            <a:pPr indent="0" marL="0">
              <a:buNone/>
            </a:pPr>
            <a:r>
              <a:rPr lang="en-US" sz="1400" i="1" dirty="0">
                <a:solidFill>
                  <a:schemeClr val="accent5"/>
                </a:solidFill>
              </a:rPr>
              <a:t>Real problem → three cycle lengths → three congruences with the same unknown 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Step 2: Apply the CRT</a:t>
            </a:r>
            <a:endParaRPr lang="en-US" sz="3000" dirty="0"/>
          </a:p>
        </p:txBody>
      </p:sp>
      <p:sp>
        <p:nvSpPr>
          <p:cNvPr id="3" name="Flow box 1"/>
          <p:cNvSpPr/>
          <p:nvPr/>
        </p:nvSpPr>
        <p:spPr>
          <a:xfrm>
            <a:off x="457200" y="1051560"/>
            <a:ext cx="4846320" cy="658368"/>
          </a:xfrm>
          <a:prstGeom prst="roundRect">
            <a:avLst>
              <a:gd name="adj" fmla="val 16667"/>
            </a:avLst>
          </a:prstGeom>
          <a:solidFill>
            <a:schemeClr val="bg2"/>
          </a:solidFill>
          <a:ln/>
        </p:spPr>
      </p:sp>
      <p:sp>
        <p:nvSpPr>
          <p:cNvPr id="4" name="Text 2"/>
          <p:cNvSpPr txBox="1"/>
          <p:nvPr/>
        </p:nvSpPr>
        <p:spPr>
          <a:xfrm>
            <a:off x="594360" y="1051560"/>
            <a:ext cx="4572000" cy="658368"/>
          </a:xfrm>
          <a:prstGeom prst="rect">
            <a:avLst/>
          </a:prstGeom>
          <a:noFill/>
          <a:ln/>
        </p:spPr>
        <p:txBody>
          <a:bodyPr wrap="square" lIns="0" tIns="0" rIns="0" bIns="0" rtlCol="0" anchor="ctr"/>
          <a:lstStyle/>
          <a:p>
            <a:pPr indent="0" marL="0">
              <a:buNone/>
            </a:pPr>
            <a:r>
              <a:rPr lang="en-US" sz="1500" b="1" dirty="0">
                <a:solidFill>
                  <a:schemeClr val="tx2"/>
                </a:solidFill>
              </a:rPr>
              <a:t>M = m</a:t>
            </a:r>
            <a:pPr indent="0" marL="0">
              <a:buNone/>
            </a:pPr>
            <a:r>
              <a:rPr lang="en-US" sz="1500" b="1" baseline="-40000" dirty="0">
                <a:solidFill>
                  <a:schemeClr val="tx2"/>
                </a:solidFill>
              </a:rPr>
              <a:t>1</a:t>
            </a:r>
            <a:pPr indent="0" marL="0">
              <a:buNone/>
            </a:pPr>
            <a:r>
              <a:rPr lang="en-US" sz="1500" b="1" dirty="0">
                <a:solidFill>
                  <a:schemeClr val="tx2"/>
                </a:solidFill>
              </a:rPr>
              <a:t> × m</a:t>
            </a:r>
            <a:pPr indent="0" marL="0">
              <a:buNone/>
            </a:pPr>
            <a:r>
              <a:rPr lang="en-US" sz="1500" b="1" baseline="-40000" dirty="0">
                <a:solidFill>
                  <a:schemeClr val="tx2"/>
                </a:solidFill>
              </a:rPr>
              <a:t>2</a:t>
            </a:r>
            <a:pPr indent="0" marL="0">
              <a:buNone/>
            </a:pPr>
            <a:r>
              <a:rPr lang="en-US" sz="1500" b="1" dirty="0">
                <a:solidFill>
                  <a:schemeClr val="tx2"/>
                </a:solidFill>
              </a:rPr>
              <a:t> × m</a:t>
            </a:r>
            <a:pPr indent="0" marL="0">
              <a:buNone/>
            </a:pPr>
            <a:r>
              <a:rPr lang="en-US" sz="1500" b="1" baseline="-40000" dirty="0">
                <a:solidFill>
                  <a:schemeClr val="tx2"/>
                </a:solidFill>
              </a:rPr>
              <a:t>3</a:t>
            </a:r>
            <a:pPr indent="0" marL="0">
              <a:buNone/>
            </a:pPr>
            <a:r>
              <a:rPr lang="en-US" sz="1500" b="1" dirty="0">
                <a:solidFill>
                  <a:schemeClr val="tx2"/>
                </a:solidFill>
              </a:rPr>
              <a:t> = 3 × 5 × 7 = 105</a:t>
            </a:r>
            <a:endParaRPr lang="en-US" sz="1500" dirty="0"/>
          </a:p>
        </p:txBody>
      </p:sp>
      <p:sp>
        <p:nvSpPr>
          <p:cNvPr id="5" name="Flow arrow 1"/>
          <p:cNvSpPr/>
          <p:nvPr/>
        </p:nvSpPr>
        <p:spPr>
          <a:xfrm>
            <a:off x="2743200" y="1719072"/>
            <a:ext cx="274320" cy="128016"/>
          </a:xfrm>
          <a:prstGeom prst="downArrow">
            <a:avLst/>
          </a:prstGeom>
          <a:solidFill>
            <a:schemeClr val="accent5"/>
          </a:solidFill>
          <a:ln/>
        </p:spPr>
      </p:sp>
      <p:sp>
        <p:nvSpPr>
          <p:cNvPr id="6" name="Flow box 2"/>
          <p:cNvSpPr/>
          <p:nvPr/>
        </p:nvSpPr>
        <p:spPr>
          <a:xfrm>
            <a:off x="457200" y="1856232"/>
            <a:ext cx="4846320" cy="658368"/>
          </a:xfrm>
          <a:prstGeom prst="roundRect">
            <a:avLst>
              <a:gd name="adj" fmla="val 16667"/>
            </a:avLst>
          </a:prstGeom>
          <a:solidFill>
            <a:schemeClr val="bg2"/>
          </a:solidFill>
          <a:ln/>
        </p:spPr>
      </p:sp>
      <p:sp>
        <p:nvSpPr>
          <p:cNvPr id="7" name="Text 5"/>
          <p:cNvSpPr txBox="1"/>
          <p:nvPr/>
        </p:nvSpPr>
        <p:spPr>
          <a:xfrm>
            <a:off x="594360" y="1856232"/>
            <a:ext cx="4572000" cy="658368"/>
          </a:xfrm>
          <a:prstGeom prst="rect">
            <a:avLst/>
          </a:prstGeom>
          <a:noFill/>
          <a:ln/>
        </p:spPr>
        <p:txBody>
          <a:bodyPr wrap="square" lIns="0" tIns="0" rIns="0" bIns="0" rtlCol="0" anchor="ctr"/>
          <a:lstStyle/>
          <a:p>
            <a:pPr indent="0" marL="0">
              <a:buNone/>
            </a:pPr>
            <a:r>
              <a:rPr lang="en-US" sz="1500" b="1" dirty="0">
                <a:solidFill>
                  <a:schemeClr val="tx2"/>
                </a:solidFill>
              </a:rPr>
              <a:t>M</a:t>
            </a:r>
            <a:pPr indent="0" marL="0">
              <a:buNone/>
            </a:pPr>
            <a:r>
              <a:rPr lang="en-US" sz="1500" b="1" baseline="-40000" dirty="0">
                <a:solidFill>
                  <a:schemeClr val="tx2"/>
                </a:solidFill>
              </a:rPr>
              <a:t>1</a:t>
            </a:r>
            <a:pPr indent="0" marL="0">
              <a:buNone/>
            </a:pPr>
            <a:r>
              <a:rPr lang="en-US" sz="1500" b="1" dirty="0">
                <a:solidFill>
                  <a:schemeClr val="tx2"/>
                </a:solidFill>
              </a:rPr>
              <a:t> = 105/3 = 35,   M</a:t>
            </a:r>
            <a:pPr indent="0" marL="0">
              <a:buNone/>
            </a:pPr>
            <a:r>
              <a:rPr lang="en-US" sz="1500" b="1" baseline="-40000" dirty="0">
                <a:solidFill>
                  <a:schemeClr val="tx2"/>
                </a:solidFill>
              </a:rPr>
              <a:t>2</a:t>
            </a:r>
            <a:pPr indent="0" marL="0">
              <a:buNone/>
            </a:pPr>
            <a:r>
              <a:rPr lang="en-US" sz="1500" b="1" dirty="0">
                <a:solidFill>
                  <a:schemeClr val="tx2"/>
                </a:solidFill>
              </a:rPr>
              <a:t> = 105/5 = 21,   M</a:t>
            </a:r>
            <a:pPr indent="0" marL="0">
              <a:buNone/>
            </a:pPr>
            <a:r>
              <a:rPr lang="en-US" sz="1500" b="1" baseline="-40000" dirty="0">
                <a:solidFill>
                  <a:schemeClr val="tx2"/>
                </a:solidFill>
              </a:rPr>
              <a:t>3</a:t>
            </a:r>
            <a:pPr indent="0" marL="0">
              <a:buNone/>
            </a:pPr>
            <a:r>
              <a:rPr lang="en-US" sz="1500" b="1" dirty="0">
                <a:solidFill>
                  <a:schemeClr val="tx2"/>
                </a:solidFill>
              </a:rPr>
              <a:t> = 105/7 = 15</a:t>
            </a:r>
            <a:endParaRPr lang="en-US" sz="1500" dirty="0"/>
          </a:p>
        </p:txBody>
      </p:sp>
      <p:sp>
        <p:nvSpPr>
          <p:cNvPr id="8" name="Flow arrow 2"/>
          <p:cNvSpPr/>
          <p:nvPr/>
        </p:nvSpPr>
        <p:spPr>
          <a:xfrm>
            <a:off x="2743200" y="2523744"/>
            <a:ext cx="274320" cy="128016"/>
          </a:xfrm>
          <a:prstGeom prst="downArrow">
            <a:avLst/>
          </a:prstGeom>
          <a:solidFill>
            <a:schemeClr val="accent5"/>
          </a:solidFill>
          <a:ln/>
        </p:spPr>
      </p:sp>
      <p:sp>
        <p:nvSpPr>
          <p:cNvPr id="9" name="Flow box 3"/>
          <p:cNvSpPr/>
          <p:nvPr/>
        </p:nvSpPr>
        <p:spPr>
          <a:xfrm>
            <a:off x="457200" y="2660904"/>
            <a:ext cx="4846320" cy="658368"/>
          </a:xfrm>
          <a:prstGeom prst="roundRect">
            <a:avLst>
              <a:gd name="adj" fmla="val 16667"/>
            </a:avLst>
          </a:prstGeom>
          <a:solidFill>
            <a:schemeClr val="bg2"/>
          </a:solidFill>
          <a:ln/>
        </p:spPr>
      </p:sp>
      <p:sp>
        <p:nvSpPr>
          <p:cNvPr id="10" name="Text 8"/>
          <p:cNvSpPr txBox="1"/>
          <p:nvPr/>
        </p:nvSpPr>
        <p:spPr>
          <a:xfrm>
            <a:off x="594360" y="2660904"/>
            <a:ext cx="4572000" cy="658368"/>
          </a:xfrm>
          <a:prstGeom prst="rect">
            <a:avLst/>
          </a:prstGeom>
          <a:noFill/>
          <a:ln/>
        </p:spPr>
        <p:txBody>
          <a:bodyPr wrap="square" lIns="0" tIns="0" rIns="0" bIns="0" rtlCol="0" anchor="ctr"/>
          <a:lstStyle/>
          <a:p>
            <a:pPr indent="0" marL="0">
              <a:buNone/>
            </a:pPr>
            <a:r>
              <a:rPr lang="en-US" sz="1500" b="1" dirty="0">
                <a:solidFill>
                  <a:schemeClr val="tx2"/>
                </a:solidFill>
              </a:rPr>
              <a:t>t ≡ a</a:t>
            </a:r>
            <a:pPr indent="0" marL="0">
              <a:buNone/>
            </a:pPr>
            <a:r>
              <a:rPr lang="en-US" sz="1500" b="1" baseline="-40000" dirty="0">
                <a:solidFill>
                  <a:schemeClr val="tx2"/>
                </a:solidFill>
              </a:rPr>
              <a:t>1</a:t>
            </a:r>
            <a:pPr indent="0" marL="0">
              <a:buNone/>
            </a:pPr>
            <a:r>
              <a:rPr lang="en-US" sz="1500" b="1" dirty="0">
                <a:solidFill>
                  <a:schemeClr val="tx2"/>
                </a:solidFill>
              </a:rPr>
              <a:t>M</a:t>
            </a:r>
            <a:pPr indent="0" marL="0">
              <a:buNone/>
            </a:pPr>
            <a:r>
              <a:rPr lang="en-US" sz="1500" b="1" baseline="-40000" dirty="0">
                <a:solidFill>
                  <a:schemeClr val="tx2"/>
                </a:solidFill>
              </a:rPr>
              <a:t>1</a:t>
            </a:r>
            <a:pPr indent="0" marL="0">
              <a:buNone/>
            </a:pPr>
            <a:r>
              <a:rPr lang="en-US" sz="1500" b="1" dirty="0">
                <a:solidFill>
                  <a:schemeClr val="tx2"/>
                </a:solidFill>
              </a:rPr>
              <a:t>y</a:t>
            </a:r>
            <a:pPr indent="0" marL="0">
              <a:buNone/>
            </a:pPr>
            <a:r>
              <a:rPr lang="en-US" sz="1500" b="1" baseline="-40000" dirty="0">
                <a:solidFill>
                  <a:schemeClr val="tx2"/>
                </a:solidFill>
              </a:rPr>
              <a:t>1</a:t>
            </a:r>
            <a:pPr indent="0" marL="0">
              <a:buNone/>
            </a:pPr>
            <a:r>
              <a:rPr lang="en-US" sz="1500" b="1" dirty="0">
                <a:solidFill>
                  <a:schemeClr val="tx2"/>
                </a:solidFill>
              </a:rPr>
              <a:t> + a</a:t>
            </a:r>
            <a:pPr indent="0" marL="0">
              <a:buNone/>
            </a:pPr>
            <a:r>
              <a:rPr lang="en-US" sz="1500" b="1" baseline="-40000" dirty="0">
                <a:solidFill>
                  <a:schemeClr val="tx2"/>
                </a:solidFill>
              </a:rPr>
              <a:t>2</a:t>
            </a:r>
            <a:pPr indent="0" marL="0">
              <a:buNone/>
            </a:pPr>
            <a:r>
              <a:rPr lang="en-US" sz="1500" b="1" dirty="0">
                <a:solidFill>
                  <a:schemeClr val="tx2"/>
                </a:solidFill>
              </a:rPr>
              <a:t>M</a:t>
            </a:r>
            <a:pPr indent="0" marL="0">
              <a:buNone/>
            </a:pPr>
            <a:r>
              <a:rPr lang="en-US" sz="1500" b="1" baseline="-40000" dirty="0">
                <a:solidFill>
                  <a:schemeClr val="tx2"/>
                </a:solidFill>
              </a:rPr>
              <a:t>2</a:t>
            </a:r>
            <a:pPr indent="0" marL="0">
              <a:buNone/>
            </a:pPr>
            <a:r>
              <a:rPr lang="en-US" sz="1500" b="1" dirty="0">
                <a:solidFill>
                  <a:schemeClr val="tx2"/>
                </a:solidFill>
              </a:rPr>
              <a:t>y</a:t>
            </a:r>
            <a:pPr indent="0" marL="0">
              <a:buNone/>
            </a:pPr>
            <a:r>
              <a:rPr lang="en-US" sz="1500" b="1" baseline="-40000" dirty="0">
                <a:solidFill>
                  <a:schemeClr val="tx2"/>
                </a:solidFill>
              </a:rPr>
              <a:t>2</a:t>
            </a:r>
            <a:pPr indent="0" marL="0">
              <a:buNone/>
            </a:pPr>
            <a:r>
              <a:rPr lang="en-US" sz="1500" b="1" dirty="0">
                <a:solidFill>
                  <a:schemeClr val="tx2"/>
                </a:solidFill>
              </a:rPr>
              <a:t> + a</a:t>
            </a:r>
            <a:pPr indent="0" marL="0">
              <a:buNone/>
            </a:pPr>
            <a:r>
              <a:rPr lang="en-US" sz="1500" b="1" baseline="-40000" dirty="0">
                <a:solidFill>
                  <a:schemeClr val="tx2"/>
                </a:solidFill>
              </a:rPr>
              <a:t>3</a:t>
            </a:r>
            <a:pPr indent="0" marL="0">
              <a:buNone/>
            </a:pPr>
            <a:r>
              <a:rPr lang="en-US" sz="1500" b="1" dirty="0">
                <a:solidFill>
                  <a:schemeClr val="tx2"/>
                </a:solidFill>
              </a:rPr>
              <a:t>M</a:t>
            </a:r>
            <a:pPr indent="0" marL="0">
              <a:buNone/>
            </a:pPr>
            <a:r>
              <a:rPr lang="en-US" sz="1500" b="1" baseline="-40000" dirty="0">
                <a:solidFill>
                  <a:schemeClr val="tx2"/>
                </a:solidFill>
              </a:rPr>
              <a:t>3</a:t>
            </a:r>
            <a:pPr indent="0" marL="0">
              <a:buNone/>
            </a:pPr>
            <a:r>
              <a:rPr lang="en-US" sz="1500" b="1" dirty="0">
                <a:solidFill>
                  <a:schemeClr val="tx2"/>
                </a:solidFill>
              </a:rPr>
              <a:t>y</a:t>
            </a:r>
            <a:pPr indent="0" marL="0">
              <a:buNone/>
            </a:pPr>
            <a:r>
              <a:rPr lang="en-US" sz="1500" b="1" baseline="-40000" dirty="0">
                <a:solidFill>
                  <a:schemeClr val="tx2"/>
                </a:solidFill>
              </a:rPr>
              <a:t>3</a:t>
            </a:r>
            <a:pPr indent="0" marL="0">
              <a:buNone/>
            </a:pPr>
            <a:r>
              <a:rPr lang="en-US" sz="1500" b="1" dirty="0">
                <a:solidFill>
                  <a:schemeClr val="tx2"/>
                </a:solidFill>
              </a:rPr>
              <a:t>  (mod M)</a:t>
            </a:r>
            <a:endParaRPr lang="en-US" sz="1500" dirty="0"/>
          </a:p>
        </p:txBody>
      </p:sp>
      <p:sp>
        <p:nvSpPr>
          <p:cNvPr id="11" name="Flow arrow 3"/>
          <p:cNvSpPr/>
          <p:nvPr/>
        </p:nvSpPr>
        <p:spPr>
          <a:xfrm>
            <a:off x="2743200" y="3328416"/>
            <a:ext cx="274320" cy="128016"/>
          </a:xfrm>
          <a:prstGeom prst="downArrow">
            <a:avLst/>
          </a:prstGeom>
          <a:solidFill>
            <a:schemeClr val="accent5"/>
          </a:solidFill>
          <a:ln/>
        </p:spPr>
      </p:sp>
      <p:sp>
        <p:nvSpPr>
          <p:cNvPr id="12" name="Flow box 4"/>
          <p:cNvSpPr/>
          <p:nvPr/>
        </p:nvSpPr>
        <p:spPr>
          <a:xfrm>
            <a:off x="457200" y="3465576"/>
            <a:ext cx="4846320" cy="658368"/>
          </a:xfrm>
          <a:prstGeom prst="roundRect">
            <a:avLst>
              <a:gd name="adj" fmla="val 16667"/>
            </a:avLst>
          </a:prstGeom>
          <a:solidFill>
            <a:schemeClr val="accent3">
              <a:alpha val="22000"/>
            </a:schemeClr>
          </a:solidFill>
          <a:ln/>
        </p:spPr>
      </p:sp>
      <p:sp>
        <p:nvSpPr>
          <p:cNvPr id="13" name="Text 11"/>
          <p:cNvSpPr txBox="1"/>
          <p:nvPr/>
        </p:nvSpPr>
        <p:spPr>
          <a:xfrm>
            <a:off x="594360" y="3465576"/>
            <a:ext cx="4572000" cy="658368"/>
          </a:xfrm>
          <a:prstGeom prst="rect">
            <a:avLst/>
          </a:prstGeom>
          <a:noFill/>
          <a:ln/>
        </p:spPr>
        <p:txBody>
          <a:bodyPr wrap="square" lIns="0" tIns="0" rIns="0" bIns="0" rtlCol="0" anchor="ctr"/>
          <a:lstStyle/>
          <a:p>
            <a:pPr indent="0" marL="0">
              <a:buNone/>
            </a:pPr>
            <a:r>
              <a:rPr lang="en-US" sz="1500" b="1" dirty="0">
                <a:solidFill>
                  <a:schemeClr val="tx2"/>
                </a:solidFill>
              </a:rPr>
              <a:t>Here a</a:t>
            </a:r>
            <a:pPr indent="0" marL="0">
              <a:buNone/>
            </a:pPr>
            <a:r>
              <a:rPr lang="en-US" sz="1500" b="1" baseline="-40000" dirty="0">
                <a:solidFill>
                  <a:schemeClr val="tx2"/>
                </a:solidFill>
              </a:rPr>
              <a:t>1</a:t>
            </a:r>
            <a:pPr indent="0" marL="0">
              <a:buNone/>
            </a:pPr>
            <a:r>
              <a:rPr lang="en-US" sz="1500" b="1" dirty="0">
                <a:solidFill>
                  <a:schemeClr val="tx2"/>
                </a:solidFill>
              </a:rPr>
              <a:t> = a</a:t>
            </a:r>
            <a:pPr indent="0" marL="0">
              <a:buNone/>
            </a:pPr>
            <a:r>
              <a:rPr lang="en-US" sz="1500" b="1" baseline="-40000" dirty="0">
                <a:solidFill>
                  <a:schemeClr val="tx2"/>
                </a:solidFill>
              </a:rPr>
              <a:t>2</a:t>
            </a:r>
            <a:pPr indent="0" marL="0">
              <a:buNone/>
            </a:pPr>
            <a:r>
              <a:rPr lang="en-US" sz="1500" b="1" dirty="0">
                <a:solidFill>
                  <a:schemeClr val="tx2"/>
                </a:solidFill>
              </a:rPr>
              <a:t> = a</a:t>
            </a:r>
            <a:pPr indent="0" marL="0">
              <a:buNone/>
            </a:pPr>
            <a:r>
              <a:rPr lang="en-US" sz="1500" b="1" baseline="-40000" dirty="0">
                <a:solidFill>
                  <a:schemeClr val="tx2"/>
                </a:solidFill>
              </a:rPr>
              <a:t>3</a:t>
            </a:r>
            <a:pPr indent="0" marL="0">
              <a:buNone/>
            </a:pPr>
            <a:r>
              <a:rPr lang="en-US" sz="1500" b="1" dirty="0">
                <a:solidFill>
                  <a:schemeClr val="tx2"/>
                </a:solidFill>
              </a:rPr>
              <a:t> = 0, so every term is 0:  t ≡ 0 (mod 105)</a:t>
            </a:r>
            <a:endParaRPr lang="en-US" sz="1500" dirty="0"/>
          </a:p>
        </p:txBody>
      </p:sp>
      <p:sp>
        <p:nvSpPr>
          <p:cNvPr id="14" name="Text 12"/>
          <p:cNvSpPr txBox="1"/>
          <p:nvPr/>
        </p:nvSpPr>
        <p:spPr>
          <a:xfrm>
            <a:off x="457200" y="4160520"/>
            <a:ext cx="4846320" cy="411480"/>
          </a:xfrm>
          <a:prstGeom prst="rect">
            <a:avLst/>
          </a:prstGeom>
          <a:noFill/>
          <a:ln/>
        </p:spPr>
        <p:txBody>
          <a:bodyPr wrap="square" lIns="0" tIns="0" rIns="0" bIns="0" rtlCol="0" anchor="t"/>
          <a:lstStyle/>
          <a:p>
            <a:pPr indent="0" marL="0">
              <a:buNone/>
            </a:pPr>
            <a:r>
              <a:rPr lang="en-US" sz="1200" i="1" dirty="0">
                <a:solidFill>
                  <a:schemeClr val="accent5"/>
                </a:solidFill>
              </a:rPr>
              <a:t>y</a:t>
            </a:r>
            <a:pPr indent="0" marL="0">
              <a:buNone/>
            </a:pPr>
            <a:r>
              <a:rPr lang="en-US" sz="1200" i="1" baseline="-40000" dirty="0">
                <a:solidFill>
                  <a:schemeClr val="accent5"/>
                </a:solidFill>
              </a:rPr>
              <a:t>i</a:t>
            </a:r>
            <a:pPr indent="0" marL="0">
              <a:buNone/>
            </a:pPr>
            <a:r>
              <a:rPr lang="en-US" sz="1200" i="1" dirty="0">
                <a:solidFill>
                  <a:schemeClr val="accent5"/>
                </a:solidFill>
              </a:rPr>
              <a:t> = inverse of M</a:t>
            </a:r>
            <a:pPr indent="0" marL="0">
              <a:buNone/>
            </a:pPr>
            <a:r>
              <a:rPr lang="en-US" sz="1200" i="1" baseline="-40000" dirty="0">
                <a:solidFill>
                  <a:schemeClr val="accent5"/>
                </a:solidFill>
              </a:rPr>
              <a:t>i</a:t>
            </a:r>
            <a:pPr indent="0" marL="0">
              <a:buNone/>
            </a:pPr>
            <a:r>
              <a:rPr lang="en-US" sz="1200" i="1" dirty="0">
                <a:solidFill>
                  <a:schemeClr val="accent5"/>
                </a:solidFill>
              </a:rPr>
              <a:t> mod m</a:t>
            </a:r>
            <a:pPr indent="0" marL="0">
              <a:buNone/>
            </a:pPr>
            <a:r>
              <a:rPr lang="en-US" sz="1200" i="1" baseline="-40000" dirty="0">
                <a:solidFill>
                  <a:schemeClr val="accent5"/>
                </a:solidFill>
              </a:rPr>
              <a:t>i</a:t>
            </a:r>
            <a:pPr indent="0" marL="0">
              <a:buNone/>
            </a:pPr>
            <a:r>
              <a:rPr lang="en-US" sz="1200" i="1" dirty="0">
                <a:solidFill>
                  <a:schemeClr val="accent5"/>
                </a:solidFill>
              </a:rPr>
              <a:t>; not needed here, as 0 × anything = 0.</a:t>
            </a:r>
            <a:endParaRPr lang="en-US" sz="1200" dirty="0"/>
          </a:p>
        </p:txBody>
      </p:sp>
      <p:sp>
        <p:nvSpPr>
          <p:cNvPr id="15" name="Illustration panel"/>
          <p:cNvSpPr/>
          <p:nvPr/>
        </p:nvSpPr>
        <p:spPr>
          <a:xfrm>
            <a:off x="5532120" y="1051560"/>
            <a:ext cx="3154680" cy="3520440"/>
          </a:xfrm>
          <a:prstGeom prst="roundRect">
            <a:avLst>
              <a:gd name="adj" fmla="val 3478"/>
            </a:avLst>
          </a:prstGeom>
          <a:solidFill>
            <a:schemeClr val="bg2"/>
          </a:solidFill>
          <a:ln w="12700">
            <a:solidFill>
              <a:schemeClr val="accent5"/>
            </a:solidFill>
            <a:prstDash val="dash"/>
          </a:ln>
        </p:spPr>
      </p:sp>
      <p:sp>
        <p:nvSpPr>
          <p:cNvPr id="16" name="Text 14"/>
          <p:cNvSpPr txBox="1"/>
          <p:nvPr/>
        </p:nvSpPr>
        <p:spPr>
          <a:xfrm>
            <a:off x="5669280" y="1143000"/>
            <a:ext cx="2926080" cy="33832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Separate illustration</a:t>
            </a:r>
            <a:endParaRPr lang="en-US" sz="1600" dirty="0"/>
          </a:p>
          <a:p>
            <a:pPr indent="0" marL="0">
              <a:spcAft>
                <a:spcPts val="400"/>
              </a:spcAft>
              <a:buNone/>
            </a:pPr>
            <a:r>
              <a:rPr lang="en-US" sz="1200" i="1" dirty="0">
                <a:solidFill>
                  <a:schemeClr val="accent5"/>
                </a:solidFill>
              </a:rPr>
              <a:t>Non-zero remainders (not our signal data)</a:t>
            </a:r>
            <a:endParaRPr lang="en-US" sz="1600" dirty="0"/>
          </a:p>
          <a:p>
            <a:pPr indent="0" marL="0">
              <a:spcAft>
                <a:spcPts val="400"/>
              </a:spcAft>
              <a:buNone/>
            </a:pPr>
            <a:r>
              <a:rPr lang="en-US" sz="1400" b="1" dirty="0">
                <a:solidFill>
                  <a:schemeClr val="tx1"/>
                </a:solidFill>
              </a:rPr>
              <a:t>t ≡ 2 (mod 3)</a:t>
            </a:r>
            <a:endParaRPr lang="en-US" sz="1600" dirty="0"/>
          </a:p>
          <a:p>
            <a:pPr indent="0" marL="0">
              <a:spcAft>
                <a:spcPts val="400"/>
              </a:spcAft>
              <a:buNone/>
            </a:pPr>
            <a:r>
              <a:rPr lang="en-US" sz="1400" b="1" dirty="0">
                <a:solidFill>
                  <a:schemeClr val="tx1"/>
                </a:solidFill>
              </a:rPr>
              <a:t>t ≡ 3 (mod 5)</a:t>
            </a:r>
            <a:endParaRPr lang="en-US" sz="1600" dirty="0"/>
          </a:p>
          <a:p>
            <a:pPr indent="0" marL="0">
              <a:spcAft>
                <a:spcPts val="400"/>
              </a:spcAft>
              <a:buNone/>
            </a:pPr>
            <a:r>
              <a:rPr lang="en-US" sz="1400" b="1" dirty="0">
                <a:solidFill>
                  <a:schemeClr val="tx1"/>
                </a:solidFill>
              </a:rPr>
              <a:t>t ≡ 2 (mod 7)</a:t>
            </a:r>
            <a:endParaRPr lang="en-US" sz="1600" dirty="0"/>
          </a:p>
          <a:p>
            <a:pPr indent="0" marL="0">
              <a:spcAft>
                <a:spcPts val="400"/>
              </a:spcAft>
              <a:buNone/>
            </a:pPr>
            <a:r>
              <a:rPr lang="en-US" sz="1400" dirty="0">
                <a:solidFill>
                  <a:schemeClr val="tx1"/>
                </a:solidFill>
              </a:rPr>
              <a:t>y</a:t>
            </a:r>
            <a:pPr indent="0" marL="0">
              <a:spcAft>
                <a:spcPts val="400"/>
              </a:spcAft>
              <a:buNone/>
            </a:pPr>
            <a:r>
              <a:rPr lang="en-US" sz="1400" baseline="-40000" dirty="0">
                <a:solidFill>
                  <a:schemeClr val="tx1"/>
                </a:solidFill>
              </a:rPr>
              <a:t>1</a:t>
            </a:r>
            <a:pPr indent="0" marL="0">
              <a:spcAft>
                <a:spcPts val="400"/>
              </a:spcAft>
              <a:buNone/>
            </a:pPr>
            <a:r>
              <a:rPr lang="en-US" sz="1400" dirty="0">
                <a:solidFill>
                  <a:schemeClr val="tx1"/>
                </a:solidFill>
              </a:rPr>
              <a:t> = 2 (35·2 = 70 ≡ 1), y</a:t>
            </a:r>
            <a:pPr indent="0" marL="0">
              <a:spcAft>
                <a:spcPts val="400"/>
              </a:spcAft>
              <a:buNone/>
            </a:pPr>
            <a:r>
              <a:rPr lang="en-US" sz="1400" baseline="-40000" dirty="0">
                <a:solidFill>
                  <a:schemeClr val="tx1"/>
                </a:solidFill>
              </a:rPr>
              <a:t>2</a:t>
            </a:r>
            <a:pPr indent="0" marL="0">
              <a:spcAft>
                <a:spcPts val="400"/>
              </a:spcAft>
              <a:buNone/>
            </a:pPr>
            <a:r>
              <a:rPr lang="en-US" sz="1400" dirty="0">
                <a:solidFill>
                  <a:schemeClr val="tx1"/>
                </a:solidFill>
              </a:rPr>
              <a:t> = 1, y</a:t>
            </a:r>
            <a:pPr indent="0" marL="0">
              <a:spcAft>
                <a:spcPts val="400"/>
              </a:spcAft>
              <a:buNone/>
            </a:pPr>
            <a:r>
              <a:rPr lang="en-US" sz="1400" baseline="-40000" dirty="0">
                <a:solidFill>
                  <a:schemeClr val="tx1"/>
                </a:solidFill>
              </a:rPr>
              <a:t>3</a:t>
            </a:r>
            <a:pPr indent="0" marL="0">
              <a:spcAft>
                <a:spcPts val="400"/>
              </a:spcAft>
              <a:buNone/>
            </a:pPr>
            <a:r>
              <a:rPr lang="en-US" sz="1400" dirty="0">
                <a:solidFill>
                  <a:schemeClr val="tx1"/>
                </a:solidFill>
              </a:rPr>
              <a:t> = 1</a:t>
            </a:r>
            <a:endParaRPr lang="en-US" sz="1600" dirty="0"/>
          </a:p>
          <a:p>
            <a:pPr indent="0" marL="0">
              <a:spcAft>
                <a:spcPts val="400"/>
              </a:spcAft>
              <a:buNone/>
            </a:pPr>
            <a:r>
              <a:rPr lang="en-US" sz="1400" dirty="0">
                <a:solidFill>
                  <a:schemeClr val="tx1"/>
                </a:solidFill>
              </a:rPr>
              <a:t>2·35·2 + 3·21·1 + 2·15·1 = 233</a:t>
            </a:r>
            <a:endParaRPr lang="en-US" sz="1600" dirty="0"/>
          </a:p>
          <a:p>
            <a:pPr indent="0" marL="0">
              <a:spcAft>
                <a:spcPts val="400"/>
              </a:spcAft>
              <a:buNone/>
            </a:pPr>
            <a:r>
              <a:rPr lang="en-US" sz="1400" b="1" dirty="0">
                <a:solidFill>
                  <a:schemeClr val="tx2"/>
                </a:solidFill>
              </a:rPr>
              <a:t>233 − 2·105 = 23, so t ≡ 23 (mod 105)</a:t>
            </a:r>
            <a:endParaRPr lang="en-US" sz="1600" dirty="0"/>
          </a:p>
          <a:p>
            <a:pPr indent="0" marL="0">
              <a:spcAft>
                <a:spcPts val="400"/>
              </a:spcAft>
              <a:buNone/>
            </a:pPr>
            <a:r>
              <a:rPr lang="en-US" sz="1400" b="1" dirty="0">
                <a:solidFill>
                  <a:schemeClr val="accent3"/>
                </a:solidFill>
              </a:rPr>
              <a:t>Check: 23 mod 3 = 2, mod 5 = 3, mod 7 = 2 ✓</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Step 3: Solve Step by Step</a:t>
            </a:r>
            <a:endParaRPr lang="en-US" sz="3000" dirty="0"/>
          </a:p>
        </p:txBody>
      </p:sp>
      <p:sp>
        <p:nvSpPr>
          <p:cNvPr id="3" name="Step row 1"/>
          <p:cNvSpPr/>
          <p:nvPr/>
        </p:nvSpPr>
        <p:spPr>
          <a:xfrm>
            <a:off x="457200" y="1051560"/>
            <a:ext cx="5120640" cy="530352"/>
          </a:xfrm>
          <a:prstGeom prst="roundRect">
            <a:avLst>
              <a:gd name="adj" fmla="val 20690"/>
            </a:avLst>
          </a:prstGeom>
          <a:solidFill>
            <a:schemeClr val="bg2"/>
          </a:solidFill>
          <a:ln/>
        </p:spPr>
      </p:sp>
      <p:sp>
        <p:nvSpPr>
          <p:cNvPr id="4" name="Step badge 1"/>
          <p:cNvSpPr/>
          <p:nvPr/>
        </p:nvSpPr>
        <p:spPr>
          <a:xfrm>
            <a:off x="548640" y="1133856"/>
            <a:ext cx="365760" cy="365760"/>
          </a:xfrm>
          <a:prstGeom prst="ellipse">
            <a:avLst/>
          </a:prstGeom>
          <a:solidFill>
            <a:schemeClr val="accent1"/>
          </a:solidFill>
          <a:ln/>
        </p:spPr>
      </p:sp>
      <p:sp>
        <p:nvSpPr>
          <p:cNvPr id="5" name="Text 3"/>
          <p:cNvSpPr txBox="1"/>
          <p:nvPr/>
        </p:nvSpPr>
        <p:spPr>
          <a:xfrm>
            <a:off x="548640" y="11338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1051560"/>
            <a:ext cx="4434840" cy="530352"/>
          </a:xfrm>
          <a:prstGeom prst="rect">
            <a:avLst/>
          </a:prstGeom>
          <a:noFill/>
          <a:ln/>
        </p:spPr>
        <p:txBody>
          <a:bodyPr wrap="square" lIns="0" tIns="0" rIns="0" bIns="0" rtlCol="0" anchor="ctr"/>
          <a:lstStyle/>
          <a:p>
            <a:pPr indent="0" marL="0">
              <a:buNone/>
            </a:pPr>
            <a:r>
              <a:rPr lang="en-US" sz="1400" b="1" dirty="0">
                <a:solidFill>
                  <a:schemeClr val="tx2"/>
                </a:solidFill>
              </a:rPr>
              <a:t>t ≡ 0 mod 3, 5 and 7, so t is divisible by 3, 5 and 7</a:t>
            </a:r>
            <a:endParaRPr lang="en-US" sz="1400" dirty="0"/>
          </a:p>
        </p:txBody>
      </p:sp>
      <p:sp>
        <p:nvSpPr>
          <p:cNvPr id="7" name="Step row 2"/>
          <p:cNvSpPr/>
          <p:nvPr/>
        </p:nvSpPr>
        <p:spPr>
          <a:xfrm>
            <a:off x="457200" y="1691640"/>
            <a:ext cx="5120640" cy="530352"/>
          </a:xfrm>
          <a:prstGeom prst="roundRect">
            <a:avLst>
              <a:gd name="adj" fmla="val 20690"/>
            </a:avLst>
          </a:prstGeom>
          <a:solidFill>
            <a:schemeClr val="bg2"/>
          </a:solidFill>
          <a:ln/>
        </p:spPr>
      </p:sp>
      <p:sp>
        <p:nvSpPr>
          <p:cNvPr id="8" name="Step badge 2"/>
          <p:cNvSpPr/>
          <p:nvPr/>
        </p:nvSpPr>
        <p:spPr>
          <a:xfrm>
            <a:off x="548640" y="1773936"/>
            <a:ext cx="365760" cy="365760"/>
          </a:xfrm>
          <a:prstGeom prst="ellipse">
            <a:avLst/>
          </a:prstGeom>
          <a:solidFill>
            <a:schemeClr val="accent2"/>
          </a:solidFill>
          <a:ln/>
        </p:spPr>
      </p:sp>
      <p:sp>
        <p:nvSpPr>
          <p:cNvPr id="9" name="Text 7"/>
          <p:cNvSpPr txBox="1"/>
          <p:nvPr/>
        </p:nvSpPr>
        <p:spPr>
          <a:xfrm>
            <a:off x="548640" y="177393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1691640"/>
            <a:ext cx="4434840" cy="530352"/>
          </a:xfrm>
          <a:prstGeom prst="rect">
            <a:avLst/>
          </a:prstGeom>
          <a:noFill/>
          <a:ln/>
        </p:spPr>
        <p:txBody>
          <a:bodyPr wrap="square" lIns="0" tIns="0" rIns="0" bIns="0" rtlCol="0" anchor="ctr"/>
          <a:lstStyle/>
          <a:p>
            <a:pPr indent="0" marL="0">
              <a:buNone/>
            </a:pPr>
            <a:r>
              <a:rPr lang="en-US" sz="1400" b="1" dirty="0">
                <a:solidFill>
                  <a:schemeClr val="tx2"/>
                </a:solidFill>
              </a:rPr>
              <a:t>3, 5, 7 are pairwise coprime (no shared factors)</a:t>
            </a:r>
            <a:endParaRPr lang="en-US" sz="1400" dirty="0"/>
          </a:p>
        </p:txBody>
      </p:sp>
      <p:sp>
        <p:nvSpPr>
          <p:cNvPr id="11" name="Step row 3"/>
          <p:cNvSpPr/>
          <p:nvPr/>
        </p:nvSpPr>
        <p:spPr>
          <a:xfrm>
            <a:off x="457200" y="2331720"/>
            <a:ext cx="5120640" cy="530352"/>
          </a:xfrm>
          <a:prstGeom prst="roundRect">
            <a:avLst>
              <a:gd name="adj" fmla="val 20690"/>
            </a:avLst>
          </a:prstGeom>
          <a:solidFill>
            <a:schemeClr val="bg2"/>
          </a:solidFill>
          <a:ln/>
        </p:spPr>
      </p:sp>
      <p:sp>
        <p:nvSpPr>
          <p:cNvPr id="12" name="Step badge 3"/>
          <p:cNvSpPr/>
          <p:nvPr/>
        </p:nvSpPr>
        <p:spPr>
          <a:xfrm>
            <a:off x="548640" y="2414016"/>
            <a:ext cx="365760" cy="365760"/>
          </a:xfrm>
          <a:prstGeom prst="ellipse">
            <a:avLst/>
          </a:prstGeom>
          <a:solidFill>
            <a:schemeClr val="accent3"/>
          </a:solidFill>
          <a:ln/>
        </p:spPr>
      </p:sp>
      <p:sp>
        <p:nvSpPr>
          <p:cNvPr id="13" name="Text 11"/>
          <p:cNvSpPr txBox="1"/>
          <p:nvPr/>
        </p:nvSpPr>
        <p:spPr>
          <a:xfrm>
            <a:off x="548640" y="241401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51560" y="2331720"/>
            <a:ext cx="4434840" cy="530352"/>
          </a:xfrm>
          <a:prstGeom prst="rect">
            <a:avLst/>
          </a:prstGeom>
          <a:noFill/>
          <a:ln/>
        </p:spPr>
        <p:txBody>
          <a:bodyPr wrap="square" lIns="0" tIns="0" rIns="0" bIns="0" rtlCol="0" anchor="ctr"/>
          <a:lstStyle/>
          <a:p>
            <a:pPr indent="0" marL="0">
              <a:buNone/>
            </a:pPr>
            <a:r>
              <a:rPr lang="en-US" sz="1400" b="1" dirty="0">
                <a:solidFill>
                  <a:schemeClr val="tx2"/>
                </a:solidFill>
              </a:rPr>
              <a:t>LCM(3, 5, 7) = 3 × 5 × 7 = 105</a:t>
            </a:r>
            <a:endParaRPr lang="en-US" sz="1400" dirty="0"/>
          </a:p>
        </p:txBody>
      </p:sp>
      <p:sp>
        <p:nvSpPr>
          <p:cNvPr id="15" name="Step row 4"/>
          <p:cNvSpPr/>
          <p:nvPr/>
        </p:nvSpPr>
        <p:spPr>
          <a:xfrm>
            <a:off x="457200" y="2971800"/>
            <a:ext cx="5120640" cy="530352"/>
          </a:xfrm>
          <a:prstGeom prst="roundRect">
            <a:avLst>
              <a:gd name="adj" fmla="val 20690"/>
            </a:avLst>
          </a:prstGeom>
          <a:solidFill>
            <a:schemeClr val="bg2"/>
          </a:solidFill>
          <a:ln/>
        </p:spPr>
      </p:sp>
      <p:sp>
        <p:nvSpPr>
          <p:cNvPr id="16" name="Step badge 4"/>
          <p:cNvSpPr/>
          <p:nvPr/>
        </p:nvSpPr>
        <p:spPr>
          <a:xfrm>
            <a:off x="548640" y="3054096"/>
            <a:ext cx="365760" cy="365760"/>
          </a:xfrm>
          <a:prstGeom prst="ellipse">
            <a:avLst/>
          </a:prstGeom>
          <a:solidFill>
            <a:schemeClr val="accent4"/>
          </a:solidFill>
          <a:ln/>
        </p:spPr>
      </p:sp>
      <p:sp>
        <p:nvSpPr>
          <p:cNvPr id="17" name="Text 15"/>
          <p:cNvSpPr txBox="1"/>
          <p:nvPr/>
        </p:nvSpPr>
        <p:spPr>
          <a:xfrm>
            <a:off x="548640" y="30540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051560" y="2971800"/>
            <a:ext cx="4434840" cy="530352"/>
          </a:xfrm>
          <a:prstGeom prst="rect">
            <a:avLst/>
          </a:prstGeom>
          <a:noFill/>
          <a:ln/>
        </p:spPr>
        <p:txBody>
          <a:bodyPr wrap="square" lIns="0" tIns="0" rIns="0" bIns="0" rtlCol="0" anchor="ctr"/>
          <a:lstStyle/>
          <a:p>
            <a:pPr indent="0" marL="0">
              <a:buNone/>
            </a:pPr>
            <a:r>
              <a:rPr lang="en-US" sz="1400" b="1" dirty="0">
                <a:solidFill>
                  <a:schemeClr val="tx2"/>
                </a:solidFill>
              </a:rPr>
              <a:t>So the cycle start repeats at t = 0, 105, 210, …</a:t>
            </a:r>
            <a:endParaRPr lang="en-US" sz="1400" dirty="0"/>
          </a:p>
        </p:txBody>
      </p:sp>
      <p:sp>
        <p:nvSpPr>
          <p:cNvPr id="19" name="Result card"/>
          <p:cNvSpPr/>
          <p:nvPr/>
        </p:nvSpPr>
        <p:spPr>
          <a:xfrm>
            <a:off x="5806440" y="1051560"/>
            <a:ext cx="2880360" cy="2468880"/>
          </a:xfrm>
          <a:prstGeom prst="roundRect">
            <a:avLst>
              <a:gd name="adj" fmla="val 4444"/>
            </a:avLst>
          </a:prstGeom>
          <a:solidFill>
            <a:schemeClr val="accent3"/>
          </a:solidFill>
          <a:ln/>
        </p:spPr>
      </p:sp>
      <p:sp>
        <p:nvSpPr>
          <p:cNvPr id="20" name="Text 18"/>
          <p:cNvSpPr txBox="1"/>
          <p:nvPr/>
        </p:nvSpPr>
        <p:spPr>
          <a:xfrm>
            <a:off x="5897880" y="1097280"/>
            <a:ext cx="2697480" cy="2377440"/>
          </a:xfrm>
          <a:prstGeom prst="rect">
            <a:avLst/>
          </a:prstGeom>
          <a:noFill/>
          <a:ln/>
        </p:spPr>
        <p:txBody>
          <a:bodyPr wrap="square" lIns="0" tIns="0" rIns="0" bIns="0" rtlCol="0" anchor="ctr"/>
          <a:lstStyle/>
          <a:p>
            <a:pPr algn="ctr" indent="0" marL="0">
              <a:spcAft>
                <a:spcPts val="600"/>
              </a:spcAft>
              <a:buNone/>
            </a:pPr>
            <a:r>
              <a:rPr lang="en-US" sz="1400" dirty="0">
                <a:solidFill>
                  <a:schemeClr val="bg1"/>
                </a:solidFill>
              </a:rPr>
              <a:t>First strictly positive simultaneous recurrence</a:t>
            </a:r>
            <a:endParaRPr lang="en-US" sz="1400" dirty="0"/>
          </a:p>
          <a:p>
            <a:pPr algn="ctr" indent="0" marL="0">
              <a:spcAft>
                <a:spcPts val="600"/>
              </a:spcAft>
              <a:buNone/>
            </a:pPr>
            <a:r>
              <a:rPr lang="en-US" sz="3000" b="1" dirty="0">
                <a:solidFill>
                  <a:schemeClr val="bg1"/>
                </a:solidFill>
              </a:rPr>
              <a:t>105 minutes</a:t>
            </a:r>
            <a:endParaRPr lang="en-US" sz="1400" dirty="0"/>
          </a:p>
          <a:p>
            <a:pPr algn="ctr" indent="0" marL="0">
              <a:spcAft>
                <a:spcPts val="600"/>
              </a:spcAft>
              <a:buNone/>
            </a:pPr>
            <a:r>
              <a:rPr lang="en-US" sz="1800" b="1" dirty="0">
                <a:solidFill>
                  <a:schemeClr val="bg1"/>
                </a:solidFill>
              </a:rPr>
              <a:t>= 1 hour 45 minutes</a:t>
            </a:r>
            <a:endParaRPr lang="en-US" sz="1400" dirty="0"/>
          </a:p>
          <a:p>
            <a:pPr algn="ctr" indent="0" marL="0">
              <a:spcAft>
                <a:spcPts val="600"/>
              </a:spcAft>
              <a:buNone/>
            </a:pPr>
            <a:r>
              <a:rPr lang="en-US" sz="1400" dirty="0">
                <a:solidFill>
                  <a:schemeClr val="bg1"/>
                </a:solidFill>
              </a:rPr>
              <a:t>(105 = 60 + 45)</a:t>
            </a:r>
            <a:endParaRPr lang="en-US" sz="1400" dirty="0"/>
          </a:p>
        </p:txBody>
      </p:sp>
      <p:sp>
        <p:nvSpPr>
          <p:cNvPr id="21" name="Zero versus 105"/>
          <p:cNvSpPr/>
          <p:nvPr/>
        </p:nvSpPr>
        <p:spPr>
          <a:xfrm>
            <a:off x="457200" y="3657600"/>
            <a:ext cx="4023360" cy="960120"/>
          </a:xfrm>
          <a:prstGeom prst="roundRect">
            <a:avLst>
              <a:gd name="adj" fmla="val 11429"/>
            </a:avLst>
          </a:prstGeom>
          <a:solidFill>
            <a:schemeClr val="bg2"/>
          </a:solidFill>
          <a:ln/>
        </p:spPr>
      </p:sp>
      <p:sp>
        <p:nvSpPr>
          <p:cNvPr id="22" name="Text 20"/>
          <p:cNvSpPr txBox="1"/>
          <p:nvPr/>
        </p:nvSpPr>
        <p:spPr>
          <a:xfrm>
            <a:off x="594360" y="3657600"/>
            <a:ext cx="3749040" cy="960120"/>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t = 0 vs t = 105</a:t>
            </a:r>
            <a:endParaRPr lang="en-US" sz="1400" dirty="0"/>
          </a:p>
          <a:p>
            <a:pPr indent="0" marL="0">
              <a:spcAft>
                <a:spcPts val="200"/>
              </a:spcAft>
              <a:buNone/>
            </a:pPr>
            <a:r>
              <a:rPr lang="en-US" sz="1400" dirty="0">
                <a:solidFill>
                  <a:schemeClr val="tx1"/>
                </a:solidFill>
              </a:rPr>
              <a:t>t = 0 is the starting event (allowed). t = 105 is the next, first positive, recurrence.</a:t>
            </a:r>
            <a:endParaRPr lang="en-US" sz="1400" dirty="0"/>
          </a:p>
        </p:txBody>
      </p:sp>
      <p:sp>
        <p:nvSpPr>
          <p:cNvPr id="23" name="Why correct"/>
          <p:cNvSpPr/>
          <p:nvPr/>
        </p:nvSpPr>
        <p:spPr>
          <a:xfrm>
            <a:off x="4663440" y="3657600"/>
            <a:ext cx="4023360" cy="960120"/>
          </a:xfrm>
          <a:prstGeom prst="roundRect">
            <a:avLst>
              <a:gd name="adj" fmla="val 11429"/>
            </a:avLst>
          </a:prstGeom>
          <a:solidFill>
            <a:schemeClr val="bg2"/>
          </a:solidFill>
          <a:ln/>
        </p:spPr>
      </p:sp>
      <p:sp>
        <p:nvSpPr>
          <p:cNvPr id="24" name="Text 22"/>
          <p:cNvSpPr txBox="1"/>
          <p:nvPr/>
        </p:nvSpPr>
        <p:spPr>
          <a:xfrm>
            <a:off x="4800600" y="3657600"/>
            <a:ext cx="3749040" cy="960120"/>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Why it is correct</a:t>
            </a:r>
            <a:endParaRPr lang="en-US" sz="1400" dirty="0"/>
          </a:p>
          <a:p>
            <a:pPr indent="0" marL="0">
              <a:spcAft>
                <a:spcPts val="200"/>
              </a:spcAft>
              <a:buNone/>
            </a:pPr>
            <a:r>
              <a:rPr lang="en-US" sz="1400" dirty="0">
                <a:solidFill>
                  <a:schemeClr val="tx1"/>
                </a:solidFill>
              </a:rPr>
              <a:t>Any common multiple of 3, 5, 7 must be a multiple of 105, so nothing smaller works.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Visual Timeline and Verification</a:t>
            </a:r>
            <a:endParaRPr lang="en-US" sz="3000" dirty="0"/>
          </a:p>
        </p:txBody>
      </p:sp>
      <p:sp>
        <p:nvSpPr>
          <p:cNvPr id="3" name="Text 1"/>
          <p:cNvSpPr txBox="1"/>
          <p:nvPr/>
        </p:nvSpPr>
        <p:spPr>
          <a:xfrm>
            <a:off x="1280160" y="1005840"/>
            <a:ext cx="548640" cy="228600"/>
          </a:xfrm>
          <a:prstGeom prst="rect">
            <a:avLst/>
          </a:prstGeom>
          <a:noFill/>
          <a:ln/>
        </p:spPr>
        <p:txBody>
          <a:bodyPr wrap="square" lIns="0" tIns="0" rIns="0" bIns="0" rtlCol="0" anchor="ctr"/>
          <a:lstStyle/>
          <a:p>
            <a:pPr algn="ctr" indent="0" marL="0">
              <a:buNone/>
            </a:pPr>
            <a:r>
              <a:rPr lang="en-US" sz="1200" b="1" dirty="0">
                <a:solidFill>
                  <a:schemeClr val="tx2"/>
                </a:solidFill>
              </a:rPr>
              <a:t>0</a:t>
            </a:r>
            <a:endParaRPr lang="en-US" sz="1200" dirty="0"/>
          </a:p>
        </p:txBody>
      </p:sp>
      <p:sp>
        <p:nvSpPr>
          <p:cNvPr id="4" name="Text 2"/>
          <p:cNvSpPr txBox="1"/>
          <p:nvPr/>
        </p:nvSpPr>
        <p:spPr>
          <a:xfrm>
            <a:off x="7955280" y="1005840"/>
            <a:ext cx="914400" cy="228600"/>
          </a:xfrm>
          <a:prstGeom prst="rect">
            <a:avLst/>
          </a:prstGeom>
          <a:noFill/>
          <a:ln/>
        </p:spPr>
        <p:txBody>
          <a:bodyPr wrap="square" lIns="0" tIns="0" rIns="0" bIns="0" rtlCol="0" anchor="ctr"/>
          <a:lstStyle/>
          <a:p>
            <a:pPr algn="ctr" indent="0" marL="0">
              <a:buNone/>
            </a:pPr>
            <a:r>
              <a:rPr lang="en-US" sz="1200" b="1" dirty="0">
                <a:solidFill>
                  <a:schemeClr val="accent3"/>
                </a:solidFill>
              </a:rPr>
              <a:t>105 min</a:t>
            </a:r>
            <a:endParaRPr lang="en-US" sz="1200" dirty="0"/>
          </a:p>
        </p:txBody>
      </p:sp>
      <p:sp>
        <p:nvSpPr>
          <p:cNvPr id="5" name="Text 3"/>
          <p:cNvSpPr txBox="1"/>
          <p:nvPr/>
        </p:nvSpPr>
        <p:spPr>
          <a:xfrm>
            <a:off x="457200" y="1307592"/>
            <a:ext cx="1005840" cy="457200"/>
          </a:xfrm>
          <a:prstGeom prst="rect">
            <a:avLst/>
          </a:prstGeom>
          <a:noFill/>
          <a:ln/>
        </p:spPr>
        <p:txBody>
          <a:bodyPr wrap="square" lIns="0" tIns="0" rIns="0" bIns="0" rtlCol="0" anchor="ctr"/>
          <a:lstStyle/>
          <a:p>
            <a:pPr indent="0" marL="0">
              <a:buNone/>
            </a:pPr>
            <a:r>
              <a:rPr lang="en-US" sz="1400" b="1" dirty="0">
                <a:solidFill>
                  <a:schemeClr val="tx2"/>
                </a:solidFill>
              </a:rPr>
              <a:t>Signal A</a:t>
            </a:r>
            <a:endParaRPr lang="en-US" sz="1400" dirty="0"/>
          </a:p>
          <a:p>
            <a:pPr indent="0" marL="0">
              <a:buNone/>
            </a:pPr>
            <a:r>
              <a:rPr lang="en-US" sz="1200" dirty="0">
                <a:solidFill>
                  <a:schemeClr val="accent5"/>
                </a:solidFill>
              </a:rPr>
              <a:t>3 min</a:t>
            </a:r>
            <a:endParaRPr lang="en-US" sz="1400" dirty="0"/>
          </a:p>
        </p:txBody>
      </p:sp>
      <p:sp>
        <p:nvSpPr>
          <p:cNvPr id="6" name="Baseline A"/>
          <p:cNvSpPr/>
          <p:nvPr/>
        </p:nvSpPr>
        <p:spPr>
          <a:xfrm>
            <a:off x="1554480" y="1508760"/>
            <a:ext cx="6858000" cy="0"/>
          </a:xfrm>
          <a:prstGeom prst="line">
            <a:avLst/>
          </a:prstGeom>
          <a:noFill/>
          <a:ln w="12700">
            <a:solidFill>
              <a:schemeClr val="accent5"/>
            </a:solidFill>
            <a:prstDash val="solid"/>
          </a:ln>
        </p:spPr>
      </p:sp>
      <p:sp>
        <p:nvSpPr>
          <p:cNvPr id="7" name="Tick A 0"/>
          <p:cNvSpPr/>
          <p:nvPr/>
        </p:nvSpPr>
        <p:spPr>
          <a:xfrm>
            <a:off x="1554480" y="1344168"/>
            <a:ext cx="0" cy="329184"/>
          </a:xfrm>
          <a:prstGeom prst="line">
            <a:avLst/>
          </a:prstGeom>
          <a:noFill/>
          <a:ln w="38100">
            <a:solidFill>
              <a:schemeClr val="accent1"/>
            </a:solidFill>
            <a:prstDash val="solid"/>
          </a:ln>
        </p:spPr>
      </p:sp>
      <p:sp>
        <p:nvSpPr>
          <p:cNvPr id="8" name="Tick A 3"/>
          <p:cNvSpPr/>
          <p:nvPr/>
        </p:nvSpPr>
        <p:spPr>
          <a:xfrm>
            <a:off x="1750423" y="1417320"/>
            <a:ext cx="0" cy="182880"/>
          </a:xfrm>
          <a:prstGeom prst="line">
            <a:avLst/>
          </a:prstGeom>
          <a:noFill/>
          <a:ln w="19050">
            <a:solidFill>
              <a:schemeClr val="accent1"/>
            </a:solidFill>
            <a:prstDash val="solid"/>
          </a:ln>
        </p:spPr>
      </p:sp>
      <p:sp>
        <p:nvSpPr>
          <p:cNvPr id="9" name="Tick A 6"/>
          <p:cNvSpPr/>
          <p:nvPr/>
        </p:nvSpPr>
        <p:spPr>
          <a:xfrm>
            <a:off x="1946366" y="1417320"/>
            <a:ext cx="0" cy="182880"/>
          </a:xfrm>
          <a:prstGeom prst="line">
            <a:avLst/>
          </a:prstGeom>
          <a:noFill/>
          <a:ln w="19050">
            <a:solidFill>
              <a:schemeClr val="accent1"/>
            </a:solidFill>
            <a:prstDash val="solid"/>
          </a:ln>
        </p:spPr>
      </p:sp>
      <p:sp>
        <p:nvSpPr>
          <p:cNvPr id="10" name="Tick A 9"/>
          <p:cNvSpPr/>
          <p:nvPr/>
        </p:nvSpPr>
        <p:spPr>
          <a:xfrm>
            <a:off x="2142309" y="1417320"/>
            <a:ext cx="0" cy="182880"/>
          </a:xfrm>
          <a:prstGeom prst="line">
            <a:avLst/>
          </a:prstGeom>
          <a:noFill/>
          <a:ln w="19050">
            <a:solidFill>
              <a:schemeClr val="accent1"/>
            </a:solidFill>
            <a:prstDash val="solid"/>
          </a:ln>
        </p:spPr>
      </p:sp>
      <p:sp>
        <p:nvSpPr>
          <p:cNvPr id="11" name="Tick A 12"/>
          <p:cNvSpPr/>
          <p:nvPr/>
        </p:nvSpPr>
        <p:spPr>
          <a:xfrm>
            <a:off x="2338251" y="1417320"/>
            <a:ext cx="0" cy="182880"/>
          </a:xfrm>
          <a:prstGeom prst="line">
            <a:avLst/>
          </a:prstGeom>
          <a:noFill/>
          <a:ln w="19050">
            <a:solidFill>
              <a:schemeClr val="accent1"/>
            </a:solidFill>
            <a:prstDash val="solid"/>
          </a:ln>
        </p:spPr>
      </p:sp>
      <p:sp>
        <p:nvSpPr>
          <p:cNvPr id="12" name="Tick A 15"/>
          <p:cNvSpPr/>
          <p:nvPr/>
        </p:nvSpPr>
        <p:spPr>
          <a:xfrm>
            <a:off x="2534194" y="1417320"/>
            <a:ext cx="0" cy="182880"/>
          </a:xfrm>
          <a:prstGeom prst="line">
            <a:avLst/>
          </a:prstGeom>
          <a:noFill/>
          <a:ln w="19050">
            <a:solidFill>
              <a:schemeClr val="accent1"/>
            </a:solidFill>
            <a:prstDash val="solid"/>
          </a:ln>
        </p:spPr>
      </p:sp>
      <p:sp>
        <p:nvSpPr>
          <p:cNvPr id="13" name="Tick A 18"/>
          <p:cNvSpPr/>
          <p:nvPr/>
        </p:nvSpPr>
        <p:spPr>
          <a:xfrm>
            <a:off x="2730137" y="1417320"/>
            <a:ext cx="0" cy="182880"/>
          </a:xfrm>
          <a:prstGeom prst="line">
            <a:avLst/>
          </a:prstGeom>
          <a:noFill/>
          <a:ln w="19050">
            <a:solidFill>
              <a:schemeClr val="accent1"/>
            </a:solidFill>
            <a:prstDash val="solid"/>
          </a:ln>
        </p:spPr>
      </p:sp>
      <p:sp>
        <p:nvSpPr>
          <p:cNvPr id="14" name="Tick A 21"/>
          <p:cNvSpPr/>
          <p:nvPr/>
        </p:nvSpPr>
        <p:spPr>
          <a:xfrm>
            <a:off x="2926080" y="1417320"/>
            <a:ext cx="0" cy="182880"/>
          </a:xfrm>
          <a:prstGeom prst="line">
            <a:avLst/>
          </a:prstGeom>
          <a:noFill/>
          <a:ln w="19050">
            <a:solidFill>
              <a:schemeClr val="accent1"/>
            </a:solidFill>
            <a:prstDash val="solid"/>
          </a:ln>
        </p:spPr>
      </p:sp>
      <p:sp>
        <p:nvSpPr>
          <p:cNvPr id="15" name="Tick A 24"/>
          <p:cNvSpPr/>
          <p:nvPr/>
        </p:nvSpPr>
        <p:spPr>
          <a:xfrm>
            <a:off x="3122023" y="1417320"/>
            <a:ext cx="0" cy="182880"/>
          </a:xfrm>
          <a:prstGeom prst="line">
            <a:avLst/>
          </a:prstGeom>
          <a:noFill/>
          <a:ln w="19050">
            <a:solidFill>
              <a:schemeClr val="accent1"/>
            </a:solidFill>
            <a:prstDash val="solid"/>
          </a:ln>
        </p:spPr>
      </p:sp>
      <p:sp>
        <p:nvSpPr>
          <p:cNvPr id="16" name="Tick A 27"/>
          <p:cNvSpPr/>
          <p:nvPr/>
        </p:nvSpPr>
        <p:spPr>
          <a:xfrm>
            <a:off x="3317966" y="1417320"/>
            <a:ext cx="0" cy="182880"/>
          </a:xfrm>
          <a:prstGeom prst="line">
            <a:avLst/>
          </a:prstGeom>
          <a:noFill/>
          <a:ln w="19050">
            <a:solidFill>
              <a:schemeClr val="accent1"/>
            </a:solidFill>
            <a:prstDash val="solid"/>
          </a:ln>
        </p:spPr>
      </p:sp>
      <p:sp>
        <p:nvSpPr>
          <p:cNvPr id="17" name="Tick A 30"/>
          <p:cNvSpPr/>
          <p:nvPr/>
        </p:nvSpPr>
        <p:spPr>
          <a:xfrm>
            <a:off x="3513909" y="1417320"/>
            <a:ext cx="0" cy="182880"/>
          </a:xfrm>
          <a:prstGeom prst="line">
            <a:avLst/>
          </a:prstGeom>
          <a:noFill/>
          <a:ln w="19050">
            <a:solidFill>
              <a:schemeClr val="accent1"/>
            </a:solidFill>
            <a:prstDash val="solid"/>
          </a:ln>
        </p:spPr>
      </p:sp>
      <p:sp>
        <p:nvSpPr>
          <p:cNvPr id="18" name="Tick A 33"/>
          <p:cNvSpPr/>
          <p:nvPr/>
        </p:nvSpPr>
        <p:spPr>
          <a:xfrm>
            <a:off x="3709851" y="1417320"/>
            <a:ext cx="0" cy="182880"/>
          </a:xfrm>
          <a:prstGeom prst="line">
            <a:avLst/>
          </a:prstGeom>
          <a:noFill/>
          <a:ln w="19050">
            <a:solidFill>
              <a:schemeClr val="accent1"/>
            </a:solidFill>
            <a:prstDash val="solid"/>
          </a:ln>
        </p:spPr>
      </p:sp>
      <p:sp>
        <p:nvSpPr>
          <p:cNvPr id="19" name="Tick A 36"/>
          <p:cNvSpPr/>
          <p:nvPr/>
        </p:nvSpPr>
        <p:spPr>
          <a:xfrm>
            <a:off x="3905794" y="1417320"/>
            <a:ext cx="0" cy="182880"/>
          </a:xfrm>
          <a:prstGeom prst="line">
            <a:avLst/>
          </a:prstGeom>
          <a:noFill/>
          <a:ln w="19050">
            <a:solidFill>
              <a:schemeClr val="accent1"/>
            </a:solidFill>
            <a:prstDash val="solid"/>
          </a:ln>
        </p:spPr>
      </p:sp>
      <p:sp>
        <p:nvSpPr>
          <p:cNvPr id="20" name="Tick A 39"/>
          <p:cNvSpPr/>
          <p:nvPr/>
        </p:nvSpPr>
        <p:spPr>
          <a:xfrm>
            <a:off x="4101737" y="1417320"/>
            <a:ext cx="0" cy="182880"/>
          </a:xfrm>
          <a:prstGeom prst="line">
            <a:avLst/>
          </a:prstGeom>
          <a:noFill/>
          <a:ln w="19050">
            <a:solidFill>
              <a:schemeClr val="accent1"/>
            </a:solidFill>
            <a:prstDash val="solid"/>
          </a:ln>
        </p:spPr>
      </p:sp>
      <p:sp>
        <p:nvSpPr>
          <p:cNvPr id="21" name="Tick A 42"/>
          <p:cNvSpPr/>
          <p:nvPr/>
        </p:nvSpPr>
        <p:spPr>
          <a:xfrm>
            <a:off x="4297680" y="1417320"/>
            <a:ext cx="0" cy="182880"/>
          </a:xfrm>
          <a:prstGeom prst="line">
            <a:avLst/>
          </a:prstGeom>
          <a:noFill/>
          <a:ln w="19050">
            <a:solidFill>
              <a:schemeClr val="accent1"/>
            </a:solidFill>
            <a:prstDash val="solid"/>
          </a:ln>
        </p:spPr>
      </p:sp>
      <p:sp>
        <p:nvSpPr>
          <p:cNvPr id="22" name="Tick A 45"/>
          <p:cNvSpPr/>
          <p:nvPr/>
        </p:nvSpPr>
        <p:spPr>
          <a:xfrm>
            <a:off x="4493623" y="1417320"/>
            <a:ext cx="0" cy="182880"/>
          </a:xfrm>
          <a:prstGeom prst="line">
            <a:avLst/>
          </a:prstGeom>
          <a:noFill/>
          <a:ln w="19050">
            <a:solidFill>
              <a:schemeClr val="accent1"/>
            </a:solidFill>
            <a:prstDash val="solid"/>
          </a:ln>
        </p:spPr>
      </p:sp>
      <p:sp>
        <p:nvSpPr>
          <p:cNvPr id="23" name="Tick A 48"/>
          <p:cNvSpPr/>
          <p:nvPr/>
        </p:nvSpPr>
        <p:spPr>
          <a:xfrm>
            <a:off x="4689566" y="1417320"/>
            <a:ext cx="0" cy="182880"/>
          </a:xfrm>
          <a:prstGeom prst="line">
            <a:avLst/>
          </a:prstGeom>
          <a:noFill/>
          <a:ln w="19050">
            <a:solidFill>
              <a:schemeClr val="accent1"/>
            </a:solidFill>
            <a:prstDash val="solid"/>
          </a:ln>
        </p:spPr>
      </p:sp>
      <p:sp>
        <p:nvSpPr>
          <p:cNvPr id="24" name="Tick A 51"/>
          <p:cNvSpPr/>
          <p:nvPr/>
        </p:nvSpPr>
        <p:spPr>
          <a:xfrm>
            <a:off x="4885509" y="1417320"/>
            <a:ext cx="0" cy="182880"/>
          </a:xfrm>
          <a:prstGeom prst="line">
            <a:avLst/>
          </a:prstGeom>
          <a:noFill/>
          <a:ln w="19050">
            <a:solidFill>
              <a:schemeClr val="accent1"/>
            </a:solidFill>
            <a:prstDash val="solid"/>
          </a:ln>
        </p:spPr>
      </p:sp>
      <p:sp>
        <p:nvSpPr>
          <p:cNvPr id="25" name="Tick A 54"/>
          <p:cNvSpPr/>
          <p:nvPr/>
        </p:nvSpPr>
        <p:spPr>
          <a:xfrm>
            <a:off x="5081451" y="1417320"/>
            <a:ext cx="0" cy="182880"/>
          </a:xfrm>
          <a:prstGeom prst="line">
            <a:avLst/>
          </a:prstGeom>
          <a:noFill/>
          <a:ln w="19050">
            <a:solidFill>
              <a:schemeClr val="accent1"/>
            </a:solidFill>
            <a:prstDash val="solid"/>
          </a:ln>
        </p:spPr>
      </p:sp>
      <p:sp>
        <p:nvSpPr>
          <p:cNvPr id="26" name="Tick A 57"/>
          <p:cNvSpPr/>
          <p:nvPr/>
        </p:nvSpPr>
        <p:spPr>
          <a:xfrm>
            <a:off x="5277394" y="1417320"/>
            <a:ext cx="0" cy="182880"/>
          </a:xfrm>
          <a:prstGeom prst="line">
            <a:avLst/>
          </a:prstGeom>
          <a:noFill/>
          <a:ln w="19050">
            <a:solidFill>
              <a:schemeClr val="accent1"/>
            </a:solidFill>
            <a:prstDash val="solid"/>
          </a:ln>
        </p:spPr>
      </p:sp>
      <p:sp>
        <p:nvSpPr>
          <p:cNvPr id="27" name="Tick A 60"/>
          <p:cNvSpPr/>
          <p:nvPr/>
        </p:nvSpPr>
        <p:spPr>
          <a:xfrm>
            <a:off x="5473337" y="1417320"/>
            <a:ext cx="0" cy="182880"/>
          </a:xfrm>
          <a:prstGeom prst="line">
            <a:avLst/>
          </a:prstGeom>
          <a:noFill/>
          <a:ln w="19050">
            <a:solidFill>
              <a:schemeClr val="accent1"/>
            </a:solidFill>
            <a:prstDash val="solid"/>
          </a:ln>
        </p:spPr>
      </p:sp>
      <p:sp>
        <p:nvSpPr>
          <p:cNvPr id="28" name="Tick A 63"/>
          <p:cNvSpPr/>
          <p:nvPr/>
        </p:nvSpPr>
        <p:spPr>
          <a:xfrm>
            <a:off x="5669280" y="1417320"/>
            <a:ext cx="0" cy="182880"/>
          </a:xfrm>
          <a:prstGeom prst="line">
            <a:avLst/>
          </a:prstGeom>
          <a:noFill/>
          <a:ln w="19050">
            <a:solidFill>
              <a:schemeClr val="accent1"/>
            </a:solidFill>
            <a:prstDash val="solid"/>
          </a:ln>
        </p:spPr>
      </p:sp>
      <p:sp>
        <p:nvSpPr>
          <p:cNvPr id="29" name="Tick A 66"/>
          <p:cNvSpPr/>
          <p:nvPr/>
        </p:nvSpPr>
        <p:spPr>
          <a:xfrm>
            <a:off x="5865223" y="1417320"/>
            <a:ext cx="0" cy="182880"/>
          </a:xfrm>
          <a:prstGeom prst="line">
            <a:avLst/>
          </a:prstGeom>
          <a:noFill/>
          <a:ln w="19050">
            <a:solidFill>
              <a:schemeClr val="accent1"/>
            </a:solidFill>
            <a:prstDash val="solid"/>
          </a:ln>
        </p:spPr>
      </p:sp>
      <p:sp>
        <p:nvSpPr>
          <p:cNvPr id="30" name="Tick A 69"/>
          <p:cNvSpPr/>
          <p:nvPr/>
        </p:nvSpPr>
        <p:spPr>
          <a:xfrm>
            <a:off x="6061166" y="1417320"/>
            <a:ext cx="0" cy="182880"/>
          </a:xfrm>
          <a:prstGeom prst="line">
            <a:avLst/>
          </a:prstGeom>
          <a:noFill/>
          <a:ln w="19050">
            <a:solidFill>
              <a:schemeClr val="accent1"/>
            </a:solidFill>
            <a:prstDash val="solid"/>
          </a:ln>
        </p:spPr>
      </p:sp>
      <p:sp>
        <p:nvSpPr>
          <p:cNvPr id="31" name="Tick A 72"/>
          <p:cNvSpPr/>
          <p:nvPr/>
        </p:nvSpPr>
        <p:spPr>
          <a:xfrm>
            <a:off x="6257109" y="1417320"/>
            <a:ext cx="0" cy="182880"/>
          </a:xfrm>
          <a:prstGeom prst="line">
            <a:avLst/>
          </a:prstGeom>
          <a:noFill/>
          <a:ln w="19050">
            <a:solidFill>
              <a:schemeClr val="accent1"/>
            </a:solidFill>
            <a:prstDash val="solid"/>
          </a:ln>
        </p:spPr>
      </p:sp>
      <p:sp>
        <p:nvSpPr>
          <p:cNvPr id="32" name="Tick A 75"/>
          <p:cNvSpPr/>
          <p:nvPr/>
        </p:nvSpPr>
        <p:spPr>
          <a:xfrm>
            <a:off x="6453051" y="1417320"/>
            <a:ext cx="0" cy="182880"/>
          </a:xfrm>
          <a:prstGeom prst="line">
            <a:avLst/>
          </a:prstGeom>
          <a:noFill/>
          <a:ln w="19050">
            <a:solidFill>
              <a:schemeClr val="accent1"/>
            </a:solidFill>
            <a:prstDash val="solid"/>
          </a:ln>
        </p:spPr>
      </p:sp>
      <p:sp>
        <p:nvSpPr>
          <p:cNvPr id="33" name="Tick A 78"/>
          <p:cNvSpPr/>
          <p:nvPr/>
        </p:nvSpPr>
        <p:spPr>
          <a:xfrm>
            <a:off x="6648994" y="1417320"/>
            <a:ext cx="0" cy="182880"/>
          </a:xfrm>
          <a:prstGeom prst="line">
            <a:avLst/>
          </a:prstGeom>
          <a:noFill/>
          <a:ln w="19050">
            <a:solidFill>
              <a:schemeClr val="accent1"/>
            </a:solidFill>
            <a:prstDash val="solid"/>
          </a:ln>
        </p:spPr>
      </p:sp>
      <p:sp>
        <p:nvSpPr>
          <p:cNvPr id="34" name="Tick A 81"/>
          <p:cNvSpPr/>
          <p:nvPr/>
        </p:nvSpPr>
        <p:spPr>
          <a:xfrm>
            <a:off x="6844937" y="1417320"/>
            <a:ext cx="0" cy="182880"/>
          </a:xfrm>
          <a:prstGeom prst="line">
            <a:avLst/>
          </a:prstGeom>
          <a:noFill/>
          <a:ln w="19050">
            <a:solidFill>
              <a:schemeClr val="accent1"/>
            </a:solidFill>
            <a:prstDash val="solid"/>
          </a:ln>
        </p:spPr>
      </p:sp>
      <p:sp>
        <p:nvSpPr>
          <p:cNvPr id="35" name="Tick A 84"/>
          <p:cNvSpPr/>
          <p:nvPr/>
        </p:nvSpPr>
        <p:spPr>
          <a:xfrm>
            <a:off x="7040880" y="1417320"/>
            <a:ext cx="0" cy="182880"/>
          </a:xfrm>
          <a:prstGeom prst="line">
            <a:avLst/>
          </a:prstGeom>
          <a:noFill/>
          <a:ln w="19050">
            <a:solidFill>
              <a:schemeClr val="accent1"/>
            </a:solidFill>
            <a:prstDash val="solid"/>
          </a:ln>
        </p:spPr>
      </p:sp>
      <p:sp>
        <p:nvSpPr>
          <p:cNvPr id="36" name="Tick A 87"/>
          <p:cNvSpPr/>
          <p:nvPr/>
        </p:nvSpPr>
        <p:spPr>
          <a:xfrm>
            <a:off x="7236823" y="1417320"/>
            <a:ext cx="0" cy="182880"/>
          </a:xfrm>
          <a:prstGeom prst="line">
            <a:avLst/>
          </a:prstGeom>
          <a:noFill/>
          <a:ln w="19050">
            <a:solidFill>
              <a:schemeClr val="accent1"/>
            </a:solidFill>
            <a:prstDash val="solid"/>
          </a:ln>
        </p:spPr>
      </p:sp>
      <p:sp>
        <p:nvSpPr>
          <p:cNvPr id="37" name="Tick A 90"/>
          <p:cNvSpPr/>
          <p:nvPr/>
        </p:nvSpPr>
        <p:spPr>
          <a:xfrm>
            <a:off x="7432766" y="1417320"/>
            <a:ext cx="0" cy="182880"/>
          </a:xfrm>
          <a:prstGeom prst="line">
            <a:avLst/>
          </a:prstGeom>
          <a:noFill/>
          <a:ln w="19050">
            <a:solidFill>
              <a:schemeClr val="accent1"/>
            </a:solidFill>
            <a:prstDash val="solid"/>
          </a:ln>
        </p:spPr>
      </p:sp>
      <p:sp>
        <p:nvSpPr>
          <p:cNvPr id="38" name="Tick A 93"/>
          <p:cNvSpPr/>
          <p:nvPr/>
        </p:nvSpPr>
        <p:spPr>
          <a:xfrm>
            <a:off x="7628709" y="1417320"/>
            <a:ext cx="0" cy="182880"/>
          </a:xfrm>
          <a:prstGeom prst="line">
            <a:avLst/>
          </a:prstGeom>
          <a:noFill/>
          <a:ln w="19050">
            <a:solidFill>
              <a:schemeClr val="accent1"/>
            </a:solidFill>
            <a:prstDash val="solid"/>
          </a:ln>
        </p:spPr>
      </p:sp>
      <p:sp>
        <p:nvSpPr>
          <p:cNvPr id="39" name="Tick A 96"/>
          <p:cNvSpPr/>
          <p:nvPr/>
        </p:nvSpPr>
        <p:spPr>
          <a:xfrm>
            <a:off x="7824651" y="1417320"/>
            <a:ext cx="0" cy="182880"/>
          </a:xfrm>
          <a:prstGeom prst="line">
            <a:avLst/>
          </a:prstGeom>
          <a:noFill/>
          <a:ln w="19050">
            <a:solidFill>
              <a:schemeClr val="accent1"/>
            </a:solidFill>
            <a:prstDash val="solid"/>
          </a:ln>
        </p:spPr>
      </p:sp>
      <p:sp>
        <p:nvSpPr>
          <p:cNvPr id="40" name="Tick A 99"/>
          <p:cNvSpPr/>
          <p:nvPr/>
        </p:nvSpPr>
        <p:spPr>
          <a:xfrm>
            <a:off x="8020594" y="1417320"/>
            <a:ext cx="0" cy="182880"/>
          </a:xfrm>
          <a:prstGeom prst="line">
            <a:avLst/>
          </a:prstGeom>
          <a:noFill/>
          <a:ln w="19050">
            <a:solidFill>
              <a:schemeClr val="accent1"/>
            </a:solidFill>
            <a:prstDash val="solid"/>
          </a:ln>
        </p:spPr>
      </p:sp>
      <p:sp>
        <p:nvSpPr>
          <p:cNvPr id="41" name="Tick A 102"/>
          <p:cNvSpPr/>
          <p:nvPr/>
        </p:nvSpPr>
        <p:spPr>
          <a:xfrm>
            <a:off x="8216537" y="1417320"/>
            <a:ext cx="0" cy="182880"/>
          </a:xfrm>
          <a:prstGeom prst="line">
            <a:avLst/>
          </a:prstGeom>
          <a:noFill/>
          <a:ln w="19050">
            <a:solidFill>
              <a:schemeClr val="accent1"/>
            </a:solidFill>
            <a:prstDash val="solid"/>
          </a:ln>
        </p:spPr>
      </p:sp>
      <p:sp>
        <p:nvSpPr>
          <p:cNvPr id="42" name="Tick A 105"/>
          <p:cNvSpPr/>
          <p:nvPr/>
        </p:nvSpPr>
        <p:spPr>
          <a:xfrm>
            <a:off x="8412480" y="1344168"/>
            <a:ext cx="0" cy="329184"/>
          </a:xfrm>
          <a:prstGeom prst="line">
            <a:avLst/>
          </a:prstGeom>
          <a:noFill/>
          <a:ln w="38100">
            <a:solidFill>
              <a:schemeClr val="accent1"/>
            </a:solidFill>
            <a:prstDash val="solid"/>
          </a:ln>
        </p:spPr>
      </p:sp>
      <p:sp>
        <p:nvSpPr>
          <p:cNvPr id="43" name="Text 41"/>
          <p:cNvSpPr txBox="1"/>
          <p:nvPr/>
        </p:nvSpPr>
        <p:spPr>
          <a:xfrm>
            <a:off x="1664208" y="1709928"/>
            <a:ext cx="5486400" cy="201168"/>
          </a:xfrm>
          <a:prstGeom prst="rect">
            <a:avLst/>
          </a:prstGeom>
          <a:noFill/>
          <a:ln/>
        </p:spPr>
        <p:txBody>
          <a:bodyPr wrap="square" lIns="0" tIns="0" rIns="0" bIns="0" rtlCol="0" anchor="ctr"/>
          <a:lstStyle/>
          <a:p>
            <a:pPr indent="0" marL="0">
              <a:buNone/>
            </a:pPr>
            <a:r>
              <a:rPr lang="en-US" sz="1000" dirty="0">
                <a:solidFill>
                  <a:schemeClr val="accent5"/>
                </a:solidFill>
              </a:rPr>
              <a:t>0, 3, 6, 9, 12, …, 102, 105</a:t>
            </a:r>
            <a:endParaRPr lang="en-US" sz="1000" dirty="0"/>
          </a:p>
        </p:txBody>
      </p:sp>
      <p:sp>
        <p:nvSpPr>
          <p:cNvPr id="44" name="Text 42"/>
          <p:cNvSpPr txBox="1"/>
          <p:nvPr/>
        </p:nvSpPr>
        <p:spPr>
          <a:xfrm>
            <a:off x="457200" y="1993392"/>
            <a:ext cx="1005840" cy="457200"/>
          </a:xfrm>
          <a:prstGeom prst="rect">
            <a:avLst/>
          </a:prstGeom>
          <a:noFill/>
          <a:ln/>
        </p:spPr>
        <p:txBody>
          <a:bodyPr wrap="square" lIns="0" tIns="0" rIns="0" bIns="0" rtlCol="0" anchor="ctr"/>
          <a:lstStyle/>
          <a:p>
            <a:pPr indent="0" marL="0">
              <a:buNone/>
            </a:pPr>
            <a:r>
              <a:rPr lang="en-US" sz="1400" b="1" dirty="0">
                <a:solidFill>
                  <a:schemeClr val="tx2"/>
                </a:solidFill>
              </a:rPr>
              <a:t>Signal B</a:t>
            </a:r>
            <a:endParaRPr lang="en-US" sz="1400" dirty="0"/>
          </a:p>
          <a:p>
            <a:pPr indent="0" marL="0">
              <a:buNone/>
            </a:pPr>
            <a:r>
              <a:rPr lang="en-US" sz="1200" dirty="0">
                <a:solidFill>
                  <a:schemeClr val="accent5"/>
                </a:solidFill>
              </a:rPr>
              <a:t>5 min</a:t>
            </a:r>
            <a:endParaRPr lang="en-US" sz="1400" dirty="0"/>
          </a:p>
        </p:txBody>
      </p:sp>
      <p:sp>
        <p:nvSpPr>
          <p:cNvPr id="45" name="Baseline B"/>
          <p:cNvSpPr/>
          <p:nvPr/>
        </p:nvSpPr>
        <p:spPr>
          <a:xfrm>
            <a:off x="1554480" y="2194560"/>
            <a:ext cx="6858000" cy="0"/>
          </a:xfrm>
          <a:prstGeom prst="line">
            <a:avLst/>
          </a:prstGeom>
          <a:noFill/>
          <a:ln w="12700">
            <a:solidFill>
              <a:schemeClr val="accent5"/>
            </a:solidFill>
            <a:prstDash val="solid"/>
          </a:ln>
        </p:spPr>
      </p:sp>
      <p:sp>
        <p:nvSpPr>
          <p:cNvPr id="46" name="Tick B 0"/>
          <p:cNvSpPr/>
          <p:nvPr/>
        </p:nvSpPr>
        <p:spPr>
          <a:xfrm>
            <a:off x="1554480" y="2029968"/>
            <a:ext cx="0" cy="329184"/>
          </a:xfrm>
          <a:prstGeom prst="line">
            <a:avLst/>
          </a:prstGeom>
          <a:noFill/>
          <a:ln w="38100">
            <a:solidFill>
              <a:schemeClr val="accent2"/>
            </a:solidFill>
            <a:prstDash val="solid"/>
          </a:ln>
        </p:spPr>
      </p:sp>
      <p:sp>
        <p:nvSpPr>
          <p:cNvPr id="47" name="Tick B 5"/>
          <p:cNvSpPr/>
          <p:nvPr/>
        </p:nvSpPr>
        <p:spPr>
          <a:xfrm>
            <a:off x="1881051" y="2103120"/>
            <a:ext cx="0" cy="182880"/>
          </a:xfrm>
          <a:prstGeom prst="line">
            <a:avLst/>
          </a:prstGeom>
          <a:noFill/>
          <a:ln w="19050">
            <a:solidFill>
              <a:schemeClr val="accent2"/>
            </a:solidFill>
            <a:prstDash val="solid"/>
          </a:ln>
        </p:spPr>
      </p:sp>
      <p:sp>
        <p:nvSpPr>
          <p:cNvPr id="48" name="Tick B 10"/>
          <p:cNvSpPr/>
          <p:nvPr/>
        </p:nvSpPr>
        <p:spPr>
          <a:xfrm>
            <a:off x="2207623" y="2103120"/>
            <a:ext cx="0" cy="182880"/>
          </a:xfrm>
          <a:prstGeom prst="line">
            <a:avLst/>
          </a:prstGeom>
          <a:noFill/>
          <a:ln w="19050">
            <a:solidFill>
              <a:schemeClr val="accent2"/>
            </a:solidFill>
            <a:prstDash val="solid"/>
          </a:ln>
        </p:spPr>
      </p:sp>
      <p:sp>
        <p:nvSpPr>
          <p:cNvPr id="49" name="Tick B 15"/>
          <p:cNvSpPr/>
          <p:nvPr/>
        </p:nvSpPr>
        <p:spPr>
          <a:xfrm>
            <a:off x="2534194" y="2103120"/>
            <a:ext cx="0" cy="182880"/>
          </a:xfrm>
          <a:prstGeom prst="line">
            <a:avLst/>
          </a:prstGeom>
          <a:noFill/>
          <a:ln w="19050">
            <a:solidFill>
              <a:schemeClr val="accent2"/>
            </a:solidFill>
            <a:prstDash val="solid"/>
          </a:ln>
        </p:spPr>
      </p:sp>
      <p:sp>
        <p:nvSpPr>
          <p:cNvPr id="50" name="Tick B 20"/>
          <p:cNvSpPr/>
          <p:nvPr/>
        </p:nvSpPr>
        <p:spPr>
          <a:xfrm>
            <a:off x="2860766" y="2103120"/>
            <a:ext cx="0" cy="182880"/>
          </a:xfrm>
          <a:prstGeom prst="line">
            <a:avLst/>
          </a:prstGeom>
          <a:noFill/>
          <a:ln w="19050">
            <a:solidFill>
              <a:schemeClr val="accent2"/>
            </a:solidFill>
            <a:prstDash val="solid"/>
          </a:ln>
        </p:spPr>
      </p:sp>
      <p:sp>
        <p:nvSpPr>
          <p:cNvPr id="51" name="Tick B 25"/>
          <p:cNvSpPr/>
          <p:nvPr/>
        </p:nvSpPr>
        <p:spPr>
          <a:xfrm>
            <a:off x="3187337" y="2103120"/>
            <a:ext cx="0" cy="182880"/>
          </a:xfrm>
          <a:prstGeom prst="line">
            <a:avLst/>
          </a:prstGeom>
          <a:noFill/>
          <a:ln w="19050">
            <a:solidFill>
              <a:schemeClr val="accent2"/>
            </a:solidFill>
            <a:prstDash val="solid"/>
          </a:ln>
        </p:spPr>
      </p:sp>
      <p:sp>
        <p:nvSpPr>
          <p:cNvPr id="52" name="Tick B 30"/>
          <p:cNvSpPr/>
          <p:nvPr/>
        </p:nvSpPr>
        <p:spPr>
          <a:xfrm>
            <a:off x="3513909" y="2103120"/>
            <a:ext cx="0" cy="182880"/>
          </a:xfrm>
          <a:prstGeom prst="line">
            <a:avLst/>
          </a:prstGeom>
          <a:noFill/>
          <a:ln w="19050">
            <a:solidFill>
              <a:schemeClr val="accent2"/>
            </a:solidFill>
            <a:prstDash val="solid"/>
          </a:ln>
        </p:spPr>
      </p:sp>
      <p:sp>
        <p:nvSpPr>
          <p:cNvPr id="53" name="Tick B 35"/>
          <p:cNvSpPr/>
          <p:nvPr/>
        </p:nvSpPr>
        <p:spPr>
          <a:xfrm>
            <a:off x="3840480" y="2103120"/>
            <a:ext cx="0" cy="182880"/>
          </a:xfrm>
          <a:prstGeom prst="line">
            <a:avLst/>
          </a:prstGeom>
          <a:noFill/>
          <a:ln w="19050">
            <a:solidFill>
              <a:schemeClr val="accent2"/>
            </a:solidFill>
            <a:prstDash val="solid"/>
          </a:ln>
        </p:spPr>
      </p:sp>
      <p:sp>
        <p:nvSpPr>
          <p:cNvPr id="54" name="Tick B 40"/>
          <p:cNvSpPr/>
          <p:nvPr/>
        </p:nvSpPr>
        <p:spPr>
          <a:xfrm>
            <a:off x="4167051" y="2103120"/>
            <a:ext cx="0" cy="182880"/>
          </a:xfrm>
          <a:prstGeom prst="line">
            <a:avLst/>
          </a:prstGeom>
          <a:noFill/>
          <a:ln w="19050">
            <a:solidFill>
              <a:schemeClr val="accent2"/>
            </a:solidFill>
            <a:prstDash val="solid"/>
          </a:ln>
        </p:spPr>
      </p:sp>
      <p:sp>
        <p:nvSpPr>
          <p:cNvPr id="55" name="Tick B 45"/>
          <p:cNvSpPr/>
          <p:nvPr/>
        </p:nvSpPr>
        <p:spPr>
          <a:xfrm>
            <a:off x="4493623" y="2103120"/>
            <a:ext cx="0" cy="182880"/>
          </a:xfrm>
          <a:prstGeom prst="line">
            <a:avLst/>
          </a:prstGeom>
          <a:noFill/>
          <a:ln w="19050">
            <a:solidFill>
              <a:schemeClr val="accent2"/>
            </a:solidFill>
            <a:prstDash val="solid"/>
          </a:ln>
        </p:spPr>
      </p:sp>
      <p:sp>
        <p:nvSpPr>
          <p:cNvPr id="56" name="Tick B 50"/>
          <p:cNvSpPr/>
          <p:nvPr/>
        </p:nvSpPr>
        <p:spPr>
          <a:xfrm>
            <a:off x="4820194" y="2103120"/>
            <a:ext cx="0" cy="182880"/>
          </a:xfrm>
          <a:prstGeom prst="line">
            <a:avLst/>
          </a:prstGeom>
          <a:noFill/>
          <a:ln w="19050">
            <a:solidFill>
              <a:schemeClr val="accent2"/>
            </a:solidFill>
            <a:prstDash val="solid"/>
          </a:ln>
        </p:spPr>
      </p:sp>
      <p:sp>
        <p:nvSpPr>
          <p:cNvPr id="57" name="Tick B 55"/>
          <p:cNvSpPr/>
          <p:nvPr/>
        </p:nvSpPr>
        <p:spPr>
          <a:xfrm>
            <a:off x="5146766" y="2103120"/>
            <a:ext cx="0" cy="182880"/>
          </a:xfrm>
          <a:prstGeom prst="line">
            <a:avLst/>
          </a:prstGeom>
          <a:noFill/>
          <a:ln w="19050">
            <a:solidFill>
              <a:schemeClr val="accent2"/>
            </a:solidFill>
            <a:prstDash val="solid"/>
          </a:ln>
        </p:spPr>
      </p:sp>
      <p:sp>
        <p:nvSpPr>
          <p:cNvPr id="58" name="Tick B 60"/>
          <p:cNvSpPr/>
          <p:nvPr/>
        </p:nvSpPr>
        <p:spPr>
          <a:xfrm>
            <a:off x="5473337" y="2103120"/>
            <a:ext cx="0" cy="182880"/>
          </a:xfrm>
          <a:prstGeom prst="line">
            <a:avLst/>
          </a:prstGeom>
          <a:noFill/>
          <a:ln w="19050">
            <a:solidFill>
              <a:schemeClr val="accent2"/>
            </a:solidFill>
            <a:prstDash val="solid"/>
          </a:ln>
        </p:spPr>
      </p:sp>
      <p:sp>
        <p:nvSpPr>
          <p:cNvPr id="59" name="Tick B 65"/>
          <p:cNvSpPr/>
          <p:nvPr/>
        </p:nvSpPr>
        <p:spPr>
          <a:xfrm>
            <a:off x="5799909" y="2103120"/>
            <a:ext cx="0" cy="182880"/>
          </a:xfrm>
          <a:prstGeom prst="line">
            <a:avLst/>
          </a:prstGeom>
          <a:noFill/>
          <a:ln w="19050">
            <a:solidFill>
              <a:schemeClr val="accent2"/>
            </a:solidFill>
            <a:prstDash val="solid"/>
          </a:ln>
        </p:spPr>
      </p:sp>
      <p:sp>
        <p:nvSpPr>
          <p:cNvPr id="60" name="Tick B 70"/>
          <p:cNvSpPr/>
          <p:nvPr/>
        </p:nvSpPr>
        <p:spPr>
          <a:xfrm>
            <a:off x="6126480" y="2103120"/>
            <a:ext cx="0" cy="182880"/>
          </a:xfrm>
          <a:prstGeom prst="line">
            <a:avLst/>
          </a:prstGeom>
          <a:noFill/>
          <a:ln w="19050">
            <a:solidFill>
              <a:schemeClr val="accent2"/>
            </a:solidFill>
            <a:prstDash val="solid"/>
          </a:ln>
        </p:spPr>
      </p:sp>
      <p:sp>
        <p:nvSpPr>
          <p:cNvPr id="61" name="Tick B 75"/>
          <p:cNvSpPr/>
          <p:nvPr/>
        </p:nvSpPr>
        <p:spPr>
          <a:xfrm>
            <a:off x="6453051" y="2103120"/>
            <a:ext cx="0" cy="182880"/>
          </a:xfrm>
          <a:prstGeom prst="line">
            <a:avLst/>
          </a:prstGeom>
          <a:noFill/>
          <a:ln w="19050">
            <a:solidFill>
              <a:schemeClr val="accent2"/>
            </a:solidFill>
            <a:prstDash val="solid"/>
          </a:ln>
        </p:spPr>
      </p:sp>
      <p:sp>
        <p:nvSpPr>
          <p:cNvPr id="62" name="Tick B 80"/>
          <p:cNvSpPr/>
          <p:nvPr/>
        </p:nvSpPr>
        <p:spPr>
          <a:xfrm>
            <a:off x="6779623" y="2103120"/>
            <a:ext cx="0" cy="182880"/>
          </a:xfrm>
          <a:prstGeom prst="line">
            <a:avLst/>
          </a:prstGeom>
          <a:noFill/>
          <a:ln w="19050">
            <a:solidFill>
              <a:schemeClr val="accent2"/>
            </a:solidFill>
            <a:prstDash val="solid"/>
          </a:ln>
        </p:spPr>
      </p:sp>
      <p:sp>
        <p:nvSpPr>
          <p:cNvPr id="63" name="Tick B 85"/>
          <p:cNvSpPr/>
          <p:nvPr/>
        </p:nvSpPr>
        <p:spPr>
          <a:xfrm>
            <a:off x="7106194" y="2103120"/>
            <a:ext cx="0" cy="182880"/>
          </a:xfrm>
          <a:prstGeom prst="line">
            <a:avLst/>
          </a:prstGeom>
          <a:noFill/>
          <a:ln w="19050">
            <a:solidFill>
              <a:schemeClr val="accent2"/>
            </a:solidFill>
            <a:prstDash val="solid"/>
          </a:ln>
        </p:spPr>
      </p:sp>
      <p:sp>
        <p:nvSpPr>
          <p:cNvPr id="64" name="Tick B 90"/>
          <p:cNvSpPr/>
          <p:nvPr/>
        </p:nvSpPr>
        <p:spPr>
          <a:xfrm>
            <a:off x="7432766" y="2103120"/>
            <a:ext cx="0" cy="182880"/>
          </a:xfrm>
          <a:prstGeom prst="line">
            <a:avLst/>
          </a:prstGeom>
          <a:noFill/>
          <a:ln w="19050">
            <a:solidFill>
              <a:schemeClr val="accent2"/>
            </a:solidFill>
            <a:prstDash val="solid"/>
          </a:ln>
        </p:spPr>
      </p:sp>
      <p:sp>
        <p:nvSpPr>
          <p:cNvPr id="65" name="Tick B 95"/>
          <p:cNvSpPr/>
          <p:nvPr/>
        </p:nvSpPr>
        <p:spPr>
          <a:xfrm>
            <a:off x="7759337" y="2103120"/>
            <a:ext cx="0" cy="182880"/>
          </a:xfrm>
          <a:prstGeom prst="line">
            <a:avLst/>
          </a:prstGeom>
          <a:noFill/>
          <a:ln w="19050">
            <a:solidFill>
              <a:schemeClr val="accent2"/>
            </a:solidFill>
            <a:prstDash val="solid"/>
          </a:ln>
        </p:spPr>
      </p:sp>
      <p:sp>
        <p:nvSpPr>
          <p:cNvPr id="66" name="Tick B 100"/>
          <p:cNvSpPr/>
          <p:nvPr/>
        </p:nvSpPr>
        <p:spPr>
          <a:xfrm>
            <a:off x="8085909" y="2103120"/>
            <a:ext cx="0" cy="182880"/>
          </a:xfrm>
          <a:prstGeom prst="line">
            <a:avLst/>
          </a:prstGeom>
          <a:noFill/>
          <a:ln w="19050">
            <a:solidFill>
              <a:schemeClr val="accent2"/>
            </a:solidFill>
            <a:prstDash val="solid"/>
          </a:ln>
        </p:spPr>
      </p:sp>
      <p:sp>
        <p:nvSpPr>
          <p:cNvPr id="67" name="Tick B 105"/>
          <p:cNvSpPr/>
          <p:nvPr/>
        </p:nvSpPr>
        <p:spPr>
          <a:xfrm>
            <a:off x="8412480" y="2029968"/>
            <a:ext cx="0" cy="329184"/>
          </a:xfrm>
          <a:prstGeom prst="line">
            <a:avLst/>
          </a:prstGeom>
          <a:noFill/>
          <a:ln w="38100">
            <a:solidFill>
              <a:schemeClr val="accent2"/>
            </a:solidFill>
            <a:prstDash val="solid"/>
          </a:ln>
        </p:spPr>
      </p:sp>
      <p:sp>
        <p:nvSpPr>
          <p:cNvPr id="68" name="Text 66"/>
          <p:cNvSpPr txBox="1"/>
          <p:nvPr/>
        </p:nvSpPr>
        <p:spPr>
          <a:xfrm>
            <a:off x="1664208" y="2395728"/>
            <a:ext cx="5486400" cy="201168"/>
          </a:xfrm>
          <a:prstGeom prst="rect">
            <a:avLst/>
          </a:prstGeom>
          <a:noFill/>
          <a:ln/>
        </p:spPr>
        <p:txBody>
          <a:bodyPr wrap="square" lIns="0" tIns="0" rIns="0" bIns="0" rtlCol="0" anchor="ctr"/>
          <a:lstStyle/>
          <a:p>
            <a:pPr indent="0" marL="0">
              <a:buNone/>
            </a:pPr>
            <a:r>
              <a:rPr lang="en-US" sz="1000" dirty="0">
                <a:solidFill>
                  <a:schemeClr val="accent5"/>
                </a:solidFill>
              </a:rPr>
              <a:t>0, 5, 10, 15, 20, …, 100, 105</a:t>
            </a:r>
            <a:endParaRPr lang="en-US" sz="1000" dirty="0"/>
          </a:p>
        </p:txBody>
      </p:sp>
      <p:sp>
        <p:nvSpPr>
          <p:cNvPr id="69" name="Text 67"/>
          <p:cNvSpPr txBox="1"/>
          <p:nvPr/>
        </p:nvSpPr>
        <p:spPr>
          <a:xfrm>
            <a:off x="457200" y="2679192"/>
            <a:ext cx="1005840" cy="457200"/>
          </a:xfrm>
          <a:prstGeom prst="rect">
            <a:avLst/>
          </a:prstGeom>
          <a:noFill/>
          <a:ln/>
        </p:spPr>
        <p:txBody>
          <a:bodyPr wrap="square" lIns="0" tIns="0" rIns="0" bIns="0" rtlCol="0" anchor="ctr"/>
          <a:lstStyle/>
          <a:p>
            <a:pPr indent="0" marL="0">
              <a:buNone/>
            </a:pPr>
            <a:r>
              <a:rPr lang="en-US" sz="1400" b="1" dirty="0">
                <a:solidFill>
                  <a:schemeClr val="tx2"/>
                </a:solidFill>
              </a:rPr>
              <a:t>Signal C</a:t>
            </a:r>
            <a:endParaRPr lang="en-US" sz="1400" dirty="0"/>
          </a:p>
          <a:p>
            <a:pPr indent="0" marL="0">
              <a:buNone/>
            </a:pPr>
            <a:r>
              <a:rPr lang="en-US" sz="1200" dirty="0">
                <a:solidFill>
                  <a:schemeClr val="accent5"/>
                </a:solidFill>
              </a:rPr>
              <a:t>7 min</a:t>
            </a:r>
            <a:endParaRPr lang="en-US" sz="1400" dirty="0"/>
          </a:p>
        </p:txBody>
      </p:sp>
      <p:sp>
        <p:nvSpPr>
          <p:cNvPr id="70" name="Baseline C"/>
          <p:cNvSpPr/>
          <p:nvPr/>
        </p:nvSpPr>
        <p:spPr>
          <a:xfrm>
            <a:off x="1554480" y="2880360"/>
            <a:ext cx="6858000" cy="0"/>
          </a:xfrm>
          <a:prstGeom prst="line">
            <a:avLst/>
          </a:prstGeom>
          <a:noFill/>
          <a:ln w="12700">
            <a:solidFill>
              <a:schemeClr val="accent5"/>
            </a:solidFill>
            <a:prstDash val="solid"/>
          </a:ln>
        </p:spPr>
      </p:sp>
      <p:sp>
        <p:nvSpPr>
          <p:cNvPr id="71" name="Tick C 0"/>
          <p:cNvSpPr/>
          <p:nvPr/>
        </p:nvSpPr>
        <p:spPr>
          <a:xfrm>
            <a:off x="1554480" y="2715768"/>
            <a:ext cx="0" cy="329184"/>
          </a:xfrm>
          <a:prstGeom prst="line">
            <a:avLst/>
          </a:prstGeom>
          <a:noFill/>
          <a:ln w="38100">
            <a:solidFill>
              <a:schemeClr val="accent3"/>
            </a:solidFill>
            <a:prstDash val="solid"/>
          </a:ln>
        </p:spPr>
      </p:sp>
      <p:sp>
        <p:nvSpPr>
          <p:cNvPr id="72" name="Tick C 7"/>
          <p:cNvSpPr/>
          <p:nvPr/>
        </p:nvSpPr>
        <p:spPr>
          <a:xfrm>
            <a:off x="2011680" y="2788920"/>
            <a:ext cx="0" cy="182880"/>
          </a:xfrm>
          <a:prstGeom prst="line">
            <a:avLst/>
          </a:prstGeom>
          <a:noFill/>
          <a:ln w="19050">
            <a:solidFill>
              <a:schemeClr val="accent3"/>
            </a:solidFill>
            <a:prstDash val="solid"/>
          </a:ln>
        </p:spPr>
      </p:sp>
      <p:sp>
        <p:nvSpPr>
          <p:cNvPr id="73" name="Tick C 14"/>
          <p:cNvSpPr/>
          <p:nvPr/>
        </p:nvSpPr>
        <p:spPr>
          <a:xfrm>
            <a:off x="2468880" y="2788920"/>
            <a:ext cx="0" cy="182880"/>
          </a:xfrm>
          <a:prstGeom prst="line">
            <a:avLst/>
          </a:prstGeom>
          <a:noFill/>
          <a:ln w="19050">
            <a:solidFill>
              <a:schemeClr val="accent3"/>
            </a:solidFill>
            <a:prstDash val="solid"/>
          </a:ln>
        </p:spPr>
      </p:sp>
      <p:sp>
        <p:nvSpPr>
          <p:cNvPr id="74" name="Tick C 21"/>
          <p:cNvSpPr/>
          <p:nvPr/>
        </p:nvSpPr>
        <p:spPr>
          <a:xfrm>
            <a:off x="2926080" y="2788920"/>
            <a:ext cx="0" cy="182880"/>
          </a:xfrm>
          <a:prstGeom prst="line">
            <a:avLst/>
          </a:prstGeom>
          <a:noFill/>
          <a:ln w="19050">
            <a:solidFill>
              <a:schemeClr val="accent3"/>
            </a:solidFill>
            <a:prstDash val="solid"/>
          </a:ln>
        </p:spPr>
      </p:sp>
      <p:sp>
        <p:nvSpPr>
          <p:cNvPr id="75" name="Tick C 28"/>
          <p:cNvSpPr/>
          <p:nvPr/>
        </p:nvSpPr>
        <p:spPr>
          <a:xfrm>
            <a:off x="3383280" y="2788920"/>
            <a:ext cx="0" cy="182880"/>
          </a:xfrm>
          <a:prstGeom prst="line">
            <a:avLst/>
          </a:prstGeom>
          <a:noFill/>
          <a:ln w="19050">
            <a:solidFill>
              <a:schemeClr val="accent3"/>
            </a:solidFill>
            <a:prstDash val="solid"/>
          </a:ln>
        </p:spPr>
      </p:sp>
      <p:sp>
        <p:nvSpPr>
          <p:cNvPr id="76" name="Tick C 35"/>
          <p:cNvSpPr/>
          <p:nvPr/>
        </p:nvSpPr>
        <p:spPr>
          <a:xfrm>
            <a:off x="3840480" y="2788920"/>
            <a:ext cx="0" cy="182880"/>
          </a:xfrm>
          <a:prstGeom prst="line">
            <a:avLst/>
          </a:prstGeom>
          <a:noFill/>
          <a:ln w="19050">
            <a:solidFill>
              <a:schemeClr val="accent3"/>
            </a:solidFill>
            <a:prstDash val="solid"/>
          </a:ln>
        </p:spPr>
      </p:sp>
      <p:sp>
        <p:nvSpPr>
          <p:cNvPr id="77" name="Tick C 42"/>
          <p:cNvSpPr/>
          <p:nvPr/>
        </p:nvSpPr>
        <p:spPr>
          <a:xfrm>
            <a:off x="4297680" y="2788920"/>
            <a:ext cx="0" cy="182880"/>
          </a:xfrm>
          <a:prstGeom prst="line">
            <a:avLst/>
          </a:prstGeom>
          <a:noFill/>
          <a:ln w="19050">
            <a:solidFill>
              <a:schemeClr val="accent3"/>
            </a:solidFill>
            <a:prstDash val="solid"/>
          </a:ln>
        </p:spPr>
      </p:sp>
      <p:sp>
        <p:nvSpPr>
          <p:cNvPr id="78" name="Tick C 49"/>
          <p:cNvSpPr/>
          <p:nvPr/>
        </p:nvSpPr>
        <p:spPr>
          <a:xfrm>
            <a:off x="4754880" y="2788920"/>
            <a:ext cx="0" cy="182880"/>
          </a:xfrm>
          <a:prstGeom prst="line">
            <a:avLst/>
          </a:prstGeom>
          <a:noFill/>
          <a:ln w="19050">
            <a:solidFill>
              <a:schemeClr val="accent3"/>
            </a:solidFill>
            <a:prstDash val="solid"/>
          </a:ln>
        </p:spPr>
      </p:sp>
      <p:sp>
        <p:nvSpPr>
          <p:cNvPr id="79" name="Tick C 56"/>
          <p:cNvSpPr/>
          <p:nvPr/>
        </p:nvSpPr>
        <p:spPr>
          <a:xfrm>
            <a:off x="5212080" y="2788920"/>
            <a:ext cx="0" cy="182880"/>
          </a:xfrm>
          <a:prstGeom prst="line">
            <a:avLst/>
          </a:prstGeom>
          <a:noFill/>
          <a:ln w="19050">
            <a:solidFill>
              <a:schemeClr val="accent3"/>
            </a:solidFill>
            <a:prstDash val="solid"/>
          </a:ln>
        </p:spPr>
      </p:sp>
      <p:sp>
        <p:nvSpPr>
          <p:cNvPr id="80" name="Tick C 63"/>
          <p:cNvSpPr/>
          <p:nvPr/>
        </p:nvSpPr>
        <p:spPr>
          <a:xfrm>
            <a:off x="5669280" y="2788920"/>
            <a:ext cx="0" cy="182880"/>
          </a:xfrm>
          <a:prstGeom prst="line">
            <a:avLst/>
          </a:prstGeom>
          <a:noFill/>
          <a:ln w="19050">
            <a:solidFill>
              <a:schemeClr val="accent3"/>
            </a:solidFill>
            <a:prstDash val="solid"/>
          </a:ln>
        </p:spPr>
      </p:sp>
      <p:sp>
        <p:nvSpPr>
          <p:cNvPr id="81" name="Tick C 70"/>
          <p:cNvSpPr/>
          <p:nvPr/>
        </p:nvSpPr>
        <p:spPr>
          <a:xfrm>
            <a:off x="6126480" y="2788920"/>
            <a:ext cx="0" cy="182880"/>
          </a:xfrm>
          <a:prstGeom prst="line">
            <a:avLst/>
          </a:prstGeom>
          <a:noFill/>
          <a:ln w="19050">
            <a:solidFill>
              <a:schemeClr val="accent3"/>
            </a:solidFill>
            <a:prstDash val="solid"/>
          </a:ln>
        </p:spPr>
      </p:sp>
      <p:sp>
        <p:nvSpPr>
          <p:cNvPr id="82" name="Tick C 77"/>
          <p:cNvSpPr/>
          <p:nvPr/>
        </p:nvSpPr>
        <p:spPr>
          <a:xfrm>
            <a:off x="6583680" y="2788920"/>
            <a:ext cx="0" cy="182880"/>
          </a:xfrm>
          <a:prstGeom prst="line">
            <a:avLst/>
          </a:prstGeom>
          <a:noFill/>
          <a:ln w="19050">
            <a:solidFill>
              <a:schemeClr val="accent3"/>
            </a:solidFill>
            <a:prstDash val="solid"/>
          </a:ln>
        </p:spPr>
      </p:sp>
      <p:sp>
        <p:nvSpPr>
          <p:cNvPr id="83" name="Tick C 84"/>
          <p:cNvSpPr/>
          <p:nvPr/>
        </p:nvSpPr>
        <p:spPr>
          <a:xfrm>
            <a:off x="7040880" y="2788920"/>
            <a:ext cx="0" cy="182880"/>
          </a:xfrm>
          <a:prstGeom prst="line">
            <a:avLst/>
          </a:prstGeom>
          <a:noFill/>
          <a:ln w="19050">
            <a:solidFill>
              <a:schemeClr val="accent3"/>
            </a:solidFill>
            <a:prstDash val="solid"/>
          </a:ln>
        </p:spPr>
      </p:sp>
      <p:sp>
        <p:nvSpPr>
          <p:cNvPr id="84" name="Tick C 91"/>
          <p:cNvSpPr/>
          <p:nvPr/>
        </p:nvSpPr>
        <p:spPr>
          <a:xfrm>
            <a:off x="7498080" y="2788920"/>
            <a:ext cx="0" cy="182880"/>
          </a:xfrm>
          <a:prstGeom prst="line">
            <a:avLst/>
          </a:prstGeom>
          <a:noFill/>
          <a:ln w="19050">
            <a:solidFill>
              <a:schemeClr val="accent3"/>
            </a:solidFill>
            <a:prstDash val="solid"/>
          </a:ln>
        </p:spPr>
      </p:sp>
      <p:sp>
        <p:nvSpPr>
          <p:cNvPr id="85" name="Tick C 98"/>
          <p:cNvSpPr/>
          <p:nvPr/>
        </p:nvSpPr>
        <p:spPr>
          <a:xfrm>
            <a:off x="7955280" y="2788920"/>
            <a:ext cx="0" cy="182880"/>
          </a:xfrm>
          <a:prstGeom prst="line">
            <a:avLst/>
          </a:prstGeom>
          <a:noFill/>
          <a:ln w="19050">
            <a:solidFill>
              <a:schemeClr val="accent3"/>
            </a:solidFill>
            <a:prstDash val="solid"/>
          </a:ln>
        </p:spPr>
      </p:sp>
      <p:sp>
        <p:nvSpPr>
          <p:cNvPr id="86" name="Tick C 105"/>
          <p:cNvSpPr/>
          <p:nvPr/>
        </p:nvSpPr>
        <p:spPr>
          <a:xfrm>
            <a:off x="8412480" y="2715768"/>
            <a:ext cx="0" cy="329184"/>
          </a:xfrm>
          <a:prstGeom prst="line">
            <a:avLst/>
          </a:prstGeom>
          <a:noFill/>
          <a:ln w="38100">
            <a:solidFill>
              <a:schemeClr val="accent3"/>
            </a:solidFill>
            <a:prstDash val="solid"/>
          </a:ln>
        </p:spPr>
      </p:sp>
      <p:sp>
        <p:nvSpPr>
          <p:cNvPr id="87" name="Text 85"/>
          <p:cNvSpPr txBox="1"/>
          <p:nvPr/>
        </p:nvSpPr>
        <p:spPr>
          <a:xfrm>
            <a:off x="1664208" y="3081528"/>
            <a:ext cx="5486400" cy="201168"/>
          </a:xfrm>
          <a:prstGeom prst="rect">
            <a:avLst/>
          </a:prstGeom>
          <a:noFill/>
          <a:ln/>
        </p:spPr>
        <p:txBody>
          <a:bodyPr wrap="square" lIns="0" tIns="0" rIns="0" bIns="0" rtlCol="0" anchor="ctr"/>
          <a:lstStyle/>
          <a:p>
            <a:pPr indent="0" marL="0">
              <a:buNone/>
            </a:pPr>
            <a:r>
              <a:rPr lang="en-US" sz="1000" dirty="0">
                <a:solidFill>
                  <a:schemeClr val="accent5"/>
                </a:solidFill>
              </a:rPr>
              <a:t>0, 7, 14, 21, 28, …, 98, 105</a:t>
            </a:r>
            <a:endParaRPr lang="en-US" sz="1000" dirty="0"/>
          </a:p>
        </p:txBody>
      </p:sp>
      <p:sp>
        <p:nvSpPr>
          <p:cNvPr id="88" name="Common line 105"/>
          <p:cNvSpPr/>
          <p:nvPr/>
        </p:nvSpPr>
        <p:spPr>
          <a:xfrm>
            <a:off x="8412480" y="1280160"/>
            <a:ext cx="0" cy="2011680"/>
          </a:xfrm>
          <a:prstGeom prst="line">
            <a:avLst/>
          </a:prstGeom>
          <a:noFill/>
          <a:ln w="25400">
            <a:solidFill>
              <a:schemeClr val="tx2"/>
            </a:solidFill>
            <a:prstDash val="dash"/>
          </a:ln>
        </p:spPr>
      </p:sp>
      <p:sp>
        <p:nvSpPr>
          <p:cNvPr id="89" name="Common line 0"/>
          <p:cNvSpPr/>
          <p:nvPr/>
        </p:nvSpPr>
        <p:spPr>
          <a:xfrm>
            <a:off x="1554480" y="1280160"/>
            <a:ext cx="0" cy="2011680"/>
          </a:xfrm>
          <a:prstGeom prst="line">
            <a:avLst/>
          </a:prstGeom>
          <a:noFill/>
          <a:ln w="25400">
            <a:solidFill>
              <a:schemeClr val="tx2"/>
            </a:solidFill>
            <a:prstDash val="dash"/>
          </a:ln>
        </p:spPr>
      </p:sp>
      <p:sp>
        <p:nvSpPr>
          <p:cNvPr id="90" name="Verify card A"/>
          <p:cNvSpPr/>
          <p:nvPr/>
        </p:nvSpPr>
        <p:spPr>
          <a:xfrm>
            <a:off x="457200" y="3520440"/>
            <a:ext cx="2651760" cy="1097280"/>
          </a:xfrm>
          <a:prstGeom prst="roundRect">
            <a:avLst>
              <a:gd name="adj" fmla="val 10000"/>
            </a:avLst>
          </a:prstGeom>
          <a:solidFill>
            <a:schemeClr val="bg2"/>
          </a:solidFill>
          <a:ln/>
        </p:spPr>
      </p:sp>
      <p:sp>
        <p:nvSpPr>
          <p:cNvPr id="91" name="Verify badge A"/>
          <p:cNvSpPr/>
          <p:nvPr/>
        </p:nvSpPr>
        <p:spPr>
          <a:xfrm>
            <a:off x="566928" y="3630168"/>
            <a:ext cx="329184" cy="329184"/>
          </a:xfrm>
          <a:prstGeom prst="ellipse">
            <a:avLst/>
          </a:prstGeom>
          <a:solidFill>
            <a:schemeClr val="accent1"/>
          </a:solidFill>
          <a:ln/>
        </p:spPr>
      </p:sp>
      <p:sp>
        <p:nvSpPr>
          <p:cNvPr id="92" name="Text 90"/>
          <p:cNvSpPr txBox="1"/>
          <p:nvPr/>
        </p:nvSpPr>
        <p:spPr>
          <a:xfrm>
            <a:off x="566928" y="36301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3" name="Text 91"/>
          <p:cNvSpPr txBox="1"/>
          <p:nvPr/>
        </p:nvSpPr>
        <p:spPr>
          <a:xfrm>
            <a:off x="1005840" y="3566160"/>
            <a:ext cx="2011680" cy="100584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105 ÷ 3 = 35</a:t>
            </a:r>
            <a:endParaRPr lang="en-US" sz="1800" dirty="0"/>
          </a:p>
          <a:p>
            <a:pPr indent="0" marL="0">
              <a:spcAft>
                <a:spcPts val="400"/>
              </a:spcAft>
              <a:buNone/>
            </a:pPr>
            <a:r>
              <a:rPr lang="en-US" sz="1800" b="1" dirty="0">
                <a:solidFill>
                  <a:schemeClr val="accent3"/>
                </a:solidFill>
              </a:rPr>
              <a:t>105 mod 3 = 0  ✓</a:t>
            </a:r>
            <a:endParaRPr lang="en-US" sz="1800" dirty="0"/>
          </a:p>
        </p:txBody>
      </p:sp>
      <p:sp>
        <p:nvSpPr>
          <p:cNvPr id="94" name="Verify card B"/>
          <p:cNvSpPr/>
          <p:nvPr/>
        </p:nvSpPr>
        <p:spPr>
          <a:xfrm>
            <a:off x="3246120" y="3520440"/>
            <a:ext cx="2651760" cy="1097280"/>
          </a:xfrm>
          <a:prstGeom prst="roundRect">
            <a:avLst>
              <a:gd name="adj" fmla="val 10000"/>
            </a:avLst>
          </a:prstGeom>
          <a:solidFill>
            <a:schemeClr val="bg2"/>
          </a:solidFill>
          <a:ln/>
        </p:spPr>
      </p:sp>
      <p:sp>
        <p:nvSpPr>
          <p:cNvPr id="95" name="Verify badge B"/>
          <p:cNvSpPr/>
          <p:nvPr/>
        </p:nvSpPr>
        <p:spPr>
          <a:xfrm>
            <a:off x="3355848" y="3630168"/>
            <a:ext cx="329184" cy="329184"/>
          </a:xfrm>
          <a:prstGeom prst="ellipse">
            <a:avLst/>
          </a:prstGeom>
          <a:solidFill>
            <a:schemeClr val="accent2"/>
          </a:solidFill>
          <a:ln/>
        </p:spPr>
      </p:sp>
      <p:sp>
        <p:nvSpPr>
          <p:cNvPr id="96" name="Text 94"/>
          <p:cNvSpPr txBox="1"/>
          <p:nvPr/>
        </p:nvSpPr>
        <p:spPr>
          <a:xfrm>
            <a:off x="3355848" y="36301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97" name="Text 95"/>
          <p:cNvSpPr txBox="1"/>
          <p:nvPr/>
        </p:nvSpPr>
        <p:spPr>
          <a:xfrm>
            <a:off x="3794760" y="3566160"/>
            <a:ext cx="2011680" cy="100584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105 ÷ 5 = 21</a:t>
            </a:r>
            <a:endParaRPr lang="en-US" sz="1800" dirty="0"/>
          </a:p>
          <a:p>
            <a:pPr indent="0" marL="0">
              <a:spcAft>
                <a:spcPts val="400"/>
              </a:spcAft>
              <a:buNone/>
            </a:pPr>
            <a:r>
              <a:rPr lang="en-US" sz="1800" b="1" dirty="0">
                <a:solidFill>
                  <a:schemeClr val="accent3"/>
                </a:solidFill>
              </a:rPr>
              <a:t>105 mod 5 = 0  ✓</a:t>
            </a:r>
            <a:endParaRPr lang="en-US" sz="1800" dirty="0"/>
          </a:p>
        </p:txBody>
      </p:sp>
      <p:sp>
        <p:nvSpPr>
          <p:cNvPr id="98" name="Verify card C"/>
          <p:cNvSpPr/>
          <p:nvPr/>
        </p:nvSpPr>
        <p:spPr>
          <a:xfrm>
            <a:off x="6035040" y="3520440"/>
            <a:ext cx="2651760" cy="1097280"/>
          </a:xfrm>
          <a:prstGeom prst="roundRect">
            <a:avLst>
              <a:gd name="adj" fmla="val 10000"/>
            </a:avLst>
          </a:prstGeom>
          <a:solidFill>
            <a:schemeClr val="bg2"/>
          </a:solidFill>
          <a:ln/>
        </p:spPr>
      </p:sp>
      <p:sp>
        <p:nvSpPr>
          <p:cNvPr id="99" name="Verify badge C"/>
          <p:cNvSpPr/>
          <p:nvPr/>
        </p:nvSpPr>
        <p:spPr>
          <a:xfrm>
            <a:off x="6144768" y="3630168"/>
            <a:ext cx="329184" cy="329184"/>
          </a:xfrm>
          <a:prstGeom prst="ellipse">
            <a:avLst/>
          </a:prstGeom>
          <a:solidFill>
            <a:schemeClr val="accent3"/>
          </a:solidFill>
          <a:ln/>
        </p:spPr>
      </p:sp>
      <p:sp>
        <p:nvSpPr>
          <p:cNvPr id="100" name="Text 98"/>
          <p:cNvSpPr txBox="1"/>
          <p:nvPr/>
        </p:nvSpPr>
        <p:spPr>
          <a:xfrm>
            <a:off x="6144768" y="36301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01" name="Text 99"/>
          <p:cNvSpPr txBox="1"/>
          <p:nvPr/>
        </p:nvSpPr>
        <p:spPr>
          <a:xfrm>
            <a:off x="6583680" y="3566160"/>
            <a:ext cx="2011680" cy="100584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105 ÷ 7 = 15</a:t>
            </a:r>
            <a:endParaRPr lang="en-US" sz="1800" dirty="0"/>
          </a:p>
          <a:p>
            <a:pPr indent="0" marL="0">
              <a:spcAft>
                <a:spcPts val="400"/>
              </a:spcAft>
              <a:buNone/>
            </a:pPr>
            <a:r>
              <a:rPr lang="en-US" sz="1800" b="1" dirty="0">
                <a:solidFill>
                  <a:schemeClr val="accent3"/>
                </a:solidFill>
              </a:rPr>
              <a:t>105 mod 7 = 0  ✓</a:t>
            </a:r>
            <a:endParaRPr lang="en-US" sz="18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Algorithm and Pseudocode</a:t>
            </a:r>
            <a:endParaRPr lang="en-US" sz="3000" dirty="0"/>
          </a:p>
        </p:txBody>
      </p:sp>
      <p:sp>
        <p:nvSpPr>
          <p:cNvPr id="3" name="Pseudocode panel"/>
          <p:cNvSpPr/>
          <p:nvPr/>
        </p:nvSpPr>
        <p:spPr>
          <a:xfrm>
            <a:off x="457200" y="1051560"/>
            <a:ext cx="3931920" cy="2697480"/>
          </a:xfrm>
          <a:prstGeom prst="roundRect">
            <a:avLst>
              <a:gd name="adj" fmla="val 4068"/>
            </a:avLst>
          </a:prstGeom>
          <a:solidFill>
            <a:schemeClr val="bg2"/>
          </a:solidFill>
          <a:ln/>
        </p:spPr>
      </p:sp>
      <p:sp>
        <p:nvSpPr>
          <p:cNvPr id="4" name="Text 2"/>
          <p:cNvSpPr txBox="1"/>
          <p:nvPr/>
        </p:nvSpPr>
        <p:spPr>
          <a:xfrm>
            <a:off x="640080" y="1143000"/>
            <a:ext cx="3611880" cy="251460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FirstCommonRecurrence(cycles)</a:t>
            </a:r>
            <a:endParaRPr lang="en-US" sz="1500" dirty="0"/>
          </a:p>
          <a:p>
            <a:pPr indent="0" marL="0">
              <a:spcAft>
                <a:spcPts val="500"/>
              </a:spcAft>
              <a:buNone/>
            </a:pPr>
            <a:r>
              <a:rPr lang="en-US" sz="1400" dirty="0">
                <a:solidFill>
                  <a:schemeClr val="tx1"/>
                </a:solidFill>
              </a:rPr>
              <a:t>1.  result ← 1</a:t>
            </a:r>
            <a:endParaRPr lang="en-US" sz="1500" dirty="0"/>
          </a:p>
          <a:p>
            <a:pPr indent="0" marL="0">
              <a:spcAft>
                <a:spcPts val="500"/>
              </a:spcAft>
              <a:buNone/>
            </a:pPr>
            <a:r>
              <a:rPr lang="en-US" sz="1400" dirty="0">
                <a:solidFill>
                  <a:schemeClr val="tx1"/>
                </a:solidFill>
              </a:rPr>
              <a:t>2.  for each cycle length c in cycles:</a:t>
            </a:r>
            <a:endParaRPr lang="en-US" sz="1500" dirty="0"/>
          </a:p>
          <a:p>
            <a:pPr indent="0" marL="0">
              <a:spcAft>
                <a:spcPts val="500"/>
              </a:spcAft>
              <a:buNone/>
            </a:pPr>
            <a:r>
              <a:rPr lang="en-US" sz="1400" dirty="0">
                <a:solidFill>
                  <a:schemeClr val="tx1"/>
                </a:solidFill>
              </a:rPr>
              <a:t>3.       result ← LCM(result, c)</a:t>
            </a:r>
            <a:endParaRPr lang="en-US" sz="1500" dirty="0"/>
          </a:p>
          <a:p>
            <a:pPr indent="0" marL="0">
              <a:spcAft>
                <a:spcPts val="500"/>
              </a:spcAft>
              <a:buNone/>
            </a:pPr>
            <a:r>
              <a:rPr lang="en-US" sz="1400" dirty="0">
                <a:solidFill>
                  <a:schemeClr val="tx1"/>
                </a:solidFill>
              </a:rPr>
              <a:t>4.  return result</a:t>
            </a:r>
            <a:endParaRPr lang="en-US" sz="1500" dirty="0"/>
          </a:p>
          <a:p>
            <a:pPr indent="0" marL="0">
              <a:spcAft>
                <a:spcPts val="500"/>
              </a:spcAft>
              <a:buNone/>
            </a:pPr>
            <a:r>
              <a:rPr lang="en-US" sz="1200" i="1" dirty="0">
                <a:solidFill>
                  <a:schemeClr val="accent5"/>
                </a:solidFill>
              </a:rPr>
              <a:t>where LCM(a, b) = a × b ÷ GCD(a, b)</a:t>
            </a:r>
            <a:endParaRPr lang="en-US" sz="1500" dirty="0"/>
          </a:p>
        </p:txBody>
      </p:sp>
      <p:sp>
        <p:nvSpPr>
          <p:cNvPr id="5" name="Code panel"/>
          <p:cNvSpPr/>
          <p:nvPr/>
        </p:nvSpPr>
        <p:spPr>
          <a:xfrm>
            <a:off x="4572000" y="1051560"/>
            <a:ext cx="4114800" cy="2697480"/>
          </a:xfrm>
          <a:prstGeom prst="roundRect">
            <a:avLst>
              <a:gd name="adj" fmla="val 4068"/>
            </a:avLst>
          </a:prstGeom>
          <a:solidFill>
            <a:schemeClr val="tx2"/>
          </a:solidFill>
          <a:ln/>
        </p:spPr>
      </p:sp>
      <p:sp>
        <p:nvSpPr>
          <p:cNvPr id="6" name="Text 4"/>
          <p:cNvSpPr txBox="1"/>
          <p:nvPr/>
        </p:nvSpPr>
        <p:spPr>
          <a:xfrm>
            <a:off x="4709160" y="1115568"/>
            <a:ext cx="3886200" cy="256032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def gcd(a, 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while b !=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 b = b, a % 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lcm(a, 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a // gcd(a, b) * 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def first_common(cycles):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result = 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for c in cycles: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result = lcm(result, 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result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print(first_common([3, 5, 7]))  # 105</a:t>
            </a:r>
            <a:endParaRPr lang="en-US" sz="1200" dirty="0"/>
          </a:p>
        </p:txBody>
      </p:sp>
      <p:sp>
        <p:nvSpPr>
          <p:cNvPr id="7" name="General CRT"/>
          <p:cNvSpPr/>
          <p:nvPr/>
        </p:nvSpPr>
        <p:spPr>
          <a:xfrm>
            <a:off x="457200" y="3886200"/>
            <a:ext cx="4023360" cy="777240"/>
          </a:xfrm>
          <a:prstGeom prst="roundRect">
            <a:avLst>
              <a:gd name="adj" fmla="val 14118"/>
            </a:avLst>
          </a:prstGeom>
          <a:solidFill>
            <a:schemeClr val="bg2"/>
          </a:solidFill>
          <a:ln/>
        </p:spPr>
      </p:sp>
      <p:sp>
        <p:nvSpPr>
          <p:cNvPr id="8" name="Text 6"/>
          <p:cNvSpPr txBox="1"/>
          <p:nvPr/>
        </p:nvSpPr>
        <p:spPr>
          <a:xfrm>
            <a:off x="594360" y="3886200"/>
            <a:ext cx="3749040" cy="777240"/>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General CRT</a:t>
            </a:r>
            <a:endParaRPr lang="en-US" sz="1400" dirty="0"/>
          </a:p>
          <a:p>
            <a:pPr indent="0" marL="0">
              <a:spcAft>
                <a:spcPts val="200"/>
              </a:spcAft>
              <a:buNone/>
            </a:pPr>
            <a:r>
              <a:rPr lang="en-US" sz="1400" dirty="0">
                <a:solidFill>
                  <a:schemeClr val="tx1"/>
                </a:solidFill>
              </a:rPr>
              <a:t>Any remainders a</a:t>
            </a:r>
            <a:pPr indent="0" marL="0">
              <a:spcAft>
                <a:spcPts val="200"/>
              </a:spcAft>
              <a:buNone/>
            </a:pPr>
            <a:r>
              <a:rPr lang="en-US" sz="1400" baseline="-40000" dirty="0">
                <a:solidFill>
                  <a:schemeClr val="tx1"/>
                </a:solidFill>
              </a:rPr>
              <a:t>i</a:t>
            </a:r>
            <a:pPr indent="0" marL="0">
              <a:spcAft>
                <a:spcPts val="200"/>
              </a:spcAft>
              <a:buNone/>
            </a:pPr>
            <a:r>
              <a:rPr lang="en-US" sz="1400" dirty="0">
                <a:solidFill>
                  <a:schemeClr val="tx1"/>
                </a:solidFill>
              </a:rPr>
              <a:t>: use M</a:t>
            </a:r>
            <a:pPr indent="0" marL="0">
              <a:spcAft>
                <a:spcPts val="200"/>
              </a:spcAft>
              <a:buNone/>
            </a:pPr>
            <a:r>
              <a:rPr lang="en-US" sz="1400" baseline="-40000" dirty="0">
                <a:solidFill>
                  <a:schemeClr val="tx1"/>
                </a:solidFill>
              </a:rPr>
              <a:t>i</a:t>
            </a:r>
            <a:pPr indent="0" marL="0">
              <a:spcAft>
                <a:spcPts val="200"/>
              </a:spcAft>
              <a:buNone/>
            </a:pPr>
            <a:r>
              <a:rPr lang="en-US" sz="1400" dirty="0">
                <a:solidFill>
                  <a:schemeClr val="tx1"/>
                </a:solidFill>
              </a:rPr>
              <a:t> and y</a:t>
            </a:r>
            <a:pPr indent="0" marL="0">
              <a:spcAft>
                <a:spcPts val="200"/>
              </a:spcAft>
              <a:buNone/>
            </a:pPr>
            <a:r>
              <a:rPr lang="en-US" sz="1400" baseline="-40000" dirty="0">
                <a:solidFill>
                  <a:schemeClr val="tx1"/>
                </a:solidFill>
              </a:rPr>
              <a:t>i</a:t>
            </a:r>
            <a:pPr indent="0" marL="0">
              <a:spcAft>
                <a:spcPts val="200"/>
              </a:spcAft>
              <a:buNone/>
            </a:pPr>
            <a:r>
              <a:rPr lang="en-US" sz="1400" dirty="0">
                <a:solidFill>
                  <a:schemeClr val="tx1"/>
                </a:solidFill>
              </a:rPr>
              <a:t>.</a:t>
            </a:r>
            <a:endParaRPr lang="en-US" sz="1400" dirty="0"/>
          </a:p>
        </p:txBody>
      </p:sp>
      <p:sp>
        <p:nvSpPr>
          <p:cNvPr id="9" name="Zero remainder case"/>
          <p:cNvSpPr/>
          <p:nvPr/>
        </p:nvSpPr>
        <p:spPr>
          <a:xfrm>
            <a:off x="4663440" y="3886200"/>
            <a:ext cx="4023360" cy="777240"/>
          </a:xfrm>
          <a:prstGeom prst="roundRect">
            <a:avLst>
              <a:gd name="adj" fmla="val 14118"/>
            </a:avLst>
          </a:prstGeom>
          <a:solidFill>
            <a:schemeClr val="accent3">
              <a:alpha val="20000"/>
            </a:schemeClr>
          </a:solidFill>
          <a:ln/>
        </p:spPr>
      </p:sp>
      <p:sp>
        <p:nvSpPr>
          <p:cNvPr id="10" name="Text 8"/>
          <p:cNvSpPr txBox="1"/>
          <p:nvPr/>
        </p:nvSpPr>
        <p:spPr>
          <a:xfrm>
            <a:off x="4800600" y="3886200"/>
            <a:ext cx="3749040" cy="777240"/>
          </a:xfrm>
          <a:prstGeom prst="rect">
            <a:avLst/>
          </a:prstGeom>
          <a:noFill/>
          <a:ln/>
        </p:spPr>
        <p:txBody>
          <a:bodyPr wrap="square" lIns="0" tIns="0" rIns="0" bIns="0" rtlCol="0" anchor="ctr"/>
          <a:lstStyle/>
          <a:p>
            <a:pPr indent="0" marL="0">
              <a:spcAft>
                <a:spcPts val="200"/>
              </a:spcAft>
              <a:buNone/>
            </a:pPr>
            <a:r>
              <a:rPr lang="en-US" sz="1400" b="1" dirty="0">
                <a:solidFill>
                  <a:schemeClr val="tx2"/>
                </a:solidFill>
              </a:rPr>
              <a:t>All remainders zero</a:t>
            </a:r>
            <a:endParaRPr lang="en-US" sz="1400" dirty="0"/>
          </a:p>
          <a:p>
            <a:pPr indent="0" marL="0">
              <a:spcAft>
                <a:spcPts val="200"/>
              </a:spcAft>
              <a:buNone/>
            </a:pPr>
            <a:r>
              <a:rPr lang="en-US" sz="1400" dirty="0">
                <a:solidFill>
                  <a:schemeClr val="tx1"/>
                </a:solidFill>
              </a:rPr>
              <a:t>The answer is just the LCM.</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Applications and Limitations</a:t>
            </a:r>
            <a:endParaRPr lang="en-US" sz="3000" dirty="0"/>
          </a:p>
        </p:txBody>
      </p:sp>
      <p:sp>
        <p:nvSpPr>
          <p:cNvPr id="3" name="Applications panel"/>
          <p:cNvSpPr/>
          <p:nvPr/>
        </p:nvSpPr>
        <p:spPr>
          <a:xfrm>
            <a:off x="457200" y="1051560"/>
            <a:ext cx="4023360" cy="2788920"/>
          </a:xfrm>
          <a:prstGeom prst="roundRect">
            <a:avLst>
              <a:gd name="adj" fmla="val 3934"/>
            </a:avLst>
          </a:prstGeom>
          <a:solidFill>
            <a:schemeClr val="accent3">
              <a:alpha val="15000"/>
            </a:schemeClr>
          </a:solidFill>
          <a:ln/>
        </p:spPr>
      </p:sp>
      <p:sp>
        <p:nvSpPr>
          <p:cNvPr id="4" name="Text 2"/>
          <p:cNvSpPr txBox="1"/>
          <p:nvPr/>
        </p:nvSpPr>
        <p:spPr>
          <a:xfrm>
            <a:off x="640080" y="114300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Where the idea applies</a:t>
            </a:r>
            <a:endParaRPr lang="en-US" sz="1800" dirty="0"/>
          </a:p>
        </p:txBody>
      </p:sp>
      <p:sp>
        <p:nvSpPr>
          <p:cNvPr id="5" name="Text 3"/>
          <p:cNvSpPr txBox="1"/>
          <p:nvPr/>
        </p:nvSpPr>
        <p:spPr>
          <a:xfrm>
            <a:off x="640080" y="1600200"/>
            <a:ext cx="3657600" cy="2148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Coordinating periodic events</a:t>
            </a:r>
            <a:endParaRPr lang="en-US" sz="1500" dirty="0"/>
          </a:p>
          <a:p>
            <a:pPr marL="342900" indent="-342900">
              <a:spcAft>
                <a:spcPts val="800"/>
              </a:spcAft>
              <a:buSzPct val="100000"/>
              <a:buChar char="•"/>
            </a:pPr>
            <a:r>
              <a:rPr lang="en-US" sz="1500" dirty="0">
                <a:solidFill>
                  <a:schemeClr val="tx1"/>
                </a:solidFill>
              </a:rPr>
              <a:t>Synchronizing repeating schedules</a:t>
            </a:r>
            <a:endParaRPr lang="en-US" sz="1500" dirty="0"/>
          </a:p>
          <a:p>
            <a:pPr marL="342900" indent="-342900">
              <a:spcAft>
                <a:spcPts val="800"/>
              </a:spcAft>
              <a:buSzPct val="100000"/>
              <a:buChar char="•"/>
            </a:pPr>
            <a:r>
              <a:rPr lang="en-US" sz="1500" dirty="0">
                <a:solidFill>
                  <a:schemeClr val="tx1"/>
                </a:solidFill>
              </a:rPr>
              <a:t>Periodic machine operations</a:t>
            </a:r>
            <a:endParaRPr lang="en-US" sz="1500" dirty="0"/>
          </a:p>
          <a:p>
            <a:pPr marL="342900" indent="-342900">
              <a:spcAft>
                <a:spcPts val="800"/>
              </a:spcAft>
              <a:buSzPct val="100000"/>
              <a:buChar char="•"/>
            </a:pPr>
            <a:r>
              <a:rPr lang="en-US" sz="1500" dirty="0">
                <a:solidFill>
                  <a:schemeClr val="tx1"/>
                </a:solidFill>
              </a:rPr>
              <a:t>Communication systems and clock-synchronization models</a:t>
            </a:r>
            <a:endParaRPr lang="en-US" sz="1500" dirty="0"/>
          </a:p>
        </p:txBody>
      </p:sp>
      <p:sp>
        <p:nvSpPr>
          <p:cNvPr id="6" name="Limitations panel"/>
          <p:cNvSpPr/>
          <p:nvPr/>
        </p:nvSpPr>
        <p:spPr>
          <a:xfrm>
            <a:off x="4663440" y="1051560"/>
            <a:ext cx="4023360" cy="2788920"/>
          </a:xfrm>
          <a:prstGeom prst="roundRect">
            <a:avLst>
              <a:gd name="adj" fmla="val 3934"/>
            </a:avLst>
          </a:prstGeom>
          <a:solidFill>
            <a:schemeClr val="accent1">
              <a:alpha val="12000"/>
            </a:schemeClr>
          </a:solidFill>
          <a:ln/>
        </p:spPr>
      </p:sp>
      <p:sp>
        <p:nvSpPr>
          <p:cNvPr id="7" name="Text 5"/>
          <p:cNvSpPr txBox="1"/>
          <p:nvPr/>
        </p:nvSpPr>
        <p:spPr>
          <a:xfrm>
            <a:off x="4846320" y="114300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Limits of this simplified example</a:t>
            </a:r>
            <a:endParaRPr lang="en-US" sz="1800" dirty="0"/>
          </a:p>
        </p:txBody>
      </p:sp>
      <p:sp>
        <p:nvSpPr>
          <p:cNvPr id="8" name="Text 6"/>
          <p:cNvSpPr txBox="1"/>
          <p:nvPr/>
        </p:nvSpPr>
        <p:spPr>
          <a:xfrm>
            <a:off x="4846320" y="1600200"/>
            <a:ext cx="3657600" cy="2148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All signals start together at t = 0</a:t>
            </a:r>
            <a:endParaRPr lang="en-US" sz="1500" dirty="0"/>
          </a:p>
          <a:p>
            <a:pPr marL="342900" indent="-342900">
              <a:spcAft>
                <a:spcPts val="800"/>
              </a:spcAft>
              <a:buSzPct val="100000"/>
              <a:buChar char="•"/>
            </a:pPr>
            <a:r>
              <a:rPr lang="en-US" sz="1500" dirty="0">
                <a:solidFill>
                  <a:schemeClr val="tx1"/>
                </a:solidFill>
              </a:rPr>
              <a:t>Cycle length does not describe the green phase</a:t>
            </a:r>
            <a:endParaRPr lang="en-US" sz="1500" dirty="0"/>
          </a:p>
          <a:p>
            <a:pPr marL="342900" indent="-342900">
              <a:spcAft>
                <a:spcPts val="800"/>
              </a:spcAft>
              <a:buSzPct val="100000"/>
              <a:buChar char="•"/>
            </a:pPr>
            <a:r>
              <a:rPr lang="en-US" sz="1500" dirty="0">
                <a:solidFill>
                  <a:schemeClr val="tx1"/>
                </a:solidFill>
              </a:rPr>
              <a:t>Real signals have different phases and safety constraints</a:t>
            </a:r>
            <a:endParaRPr lang="en-US" sz="1500" dirty="0"/>
          </a:p>
          <a:p>
            <a:pPr marL="342900" indent="-342900">
              <a:spcAft>
                <a:spcPts val="800"/>
              </a:spcAft>
              <a:buSzPct val="100000"/>
              <a:buChar char="•"/>
            </a:pPr>
            <a:r>
              <a:rPr lang="en-US" sz="1500" dirty="0">
                <a:solidFill>
                  <a:schemeClr val="tx1"/>
                </a:solidFill>
              </a:rPr>
              <a:t>Real optimization needs traffic data and control strategies beyond CRT</a:t>
            </a:r>
            <a:endParaRPr lang="en-US" sz="1500" dirty="0"/>
          </a:p>
        </p:txBody>
      </p:sp>
      <p:sp>
        <p:nvSpPr>
          <p:cNvPr id="9" name="Takeaway strip"/>
          <p:cNvSpPr/>
          <p:nvPr/>
        </p:nvSpPr>
        <p:spPr>
          <a:xfrm>
            <a:off x="457200" y="3977640"/>
            <a:ext cx="8229600" cy="640080"/>
          </a:xfrm>
          <a:prstGeom prst="roundRect">
            <a:avLst>
              <a:gd name="adj" fmla="val 17143"/>
            </a:avLst>
          </a:prstGeom>
          <a:solidFill>
            <a:schemeClr val="tx2"/>
          </a:solidFill>
          <a:ln/>
        </p:spPr>
      </p:sp>
      <p:sp>
        <p:nvSpPr>
          <p:cNvPr id="10" name="Text 8"/>
          <p:cNvSpPr txBox="1"/>
          <p:nvPr/>
        </p:nvSpPr>
        <p:spPr>
          <a:xfrm>
            <a:off x="457200" y="3977640"/>
            <a:ext cx="8229600" cy="640080"/>
          </a:xfrm>
          <a:prstGeom prst="rect">
            <a:avLst/>
          </a:prstGeom>
          <a:noFill/>
          <a:ln/>
        </p:spPr>
        <p:txBody>
          <a:bodyPr wrap="square" lIns="0" tIns="0" rIns="0" bIns="0" rtlCol="0" anchor="ctr"/>
          <a:lstStyle/>
          <a:p>
            <a:pPr algn="ctr" indent="0" marL="0">
              <a:buNone/>
            </a:pPr>
            <a:r>
              <a:rPr lang="en-US" sz="1800" b="1" dirty="0">
                <a:solidFill>
                  <a:schemeClr val="bg1"/>
                </a:solidFill>
              </a:rPr>
              <a:t>CRT alone cannot optimize a real city's traffic.</a:t>
            </a:r>
            <a:endParaRPr lang="en-US" sz="18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rPr>
              <a:t>Final Result and Analysis</a:t>
            </a:r>
            <a:endParaRPr lang="en-US" sz="3000" dirty="0"/>
          </a:p>
        </p:txBody>
      </p:sp>
      <p:sp>
        <p:nvSpPr>
          <p:cNvPr id="3" name="Stat card 1"/>
          <p:cNvSpPr/>
          <p:nvPr/>
        </p:nvSpPr>
        <p:spPr>
          <a:xfrm>
            <a:off x="457200" y="1051560"/>
            <a:ext cx="2651760" cy="1554480"/>
          </a:xfrm>
          <a:prstGeom prst="roundRect">
            <a:avLst>
              <a:gd name="adj" fmla="val 7059"/>
            </a:avLst>
          </a:prstGeom>
          <a:solidFill>
            <a:schemeClr val="bg2"/>
          </a:solidFill>
          <a:ln/>
        </p:spPr>
      </p:sp>
      <p:sp>
        <p:nvSpPr>
          <p:cNvPr id="4" name="Stat badge 1"/>
          <p:cNvSpPr/>
          <p:nvPr/>
        </p:nvSpPr>
        <p:spPr>
          <a:xfrm>
            <a:off x="1554480" y="1143000"/>
            <a:ext cx="457200" cy="457200"/>
          </a:xfrm>
          <a:prstGeom prst="ellipse">
            <a:avLst/>
          </a:prstGeom>
          <a:solidFill>
            <a:schemeClr val="accent1"/>
          </a:solidFill>
          <a:ln/>
        </p:spPr>
      </p:sp>
      <p:sp>
        <p:nvSpPr>
          <p:cNvPr id="5" name="Text 3"/>
          <p:cNvSpPr txBox="1"/>
          <p:nvPr/>
        </p:nvSpPr>
        <p:spPr>
          <a:xfrm>
            <a:off x="1554480" y="1143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457200" y="1645920"/>
            <a:ext cx="2651760" cy="548640"/>
          </a:xfrm>
          <a:prstGeom prst="rect">
            <a:avLst/>
          </a:prstGeom>
          <a:noFill/>
          <a:ln/>
        </p:spPr>
        <p:txBody>
          <a:bodyPr wrap="square" lIns="0" tIns="0" rIns="0" bIns="0" rtlCol="0" anchor="ctr"/>
          <a:lstStyle/>
          <a:p>
            <a:pPr algn="ctr" indent="0" marL="0">
              <a:buNone/>
            </a:pPr>
            <a:r>
              <a:rPr lang="en-US" sz="2400" b="1" dirty="0">
                <a:solidFill>
                  <a:schemeClr val="tx2"/>
                </a:solidFill>
              </a:rPr>
              <a:t>3, 5, 7 min</a:t>
            </a:r>
            <a:endParaRPr lang="en-US" sz="2400" dirty="0"/>
          </a:p>
        </p:txBody>
      </p:sp>
      <p:sp>
        <p:nvSpPr>
          <p:cNvPr id="7" name="Text 5"/>
          <p:cNvSpPr txBox="1"/>
          <p:nvPr/>
        </p:nvSpPr>
        <p:spPr>
          <a:xfrm>
            <a:off x="457200" y="2194560"/>
            <a:ext cx="2651760" cy="320040"/>
          </a:xfrm>
          <a:prstGeom prst="rect">
            <a:avLst/>
          </a:prstGeom>
          <a:noFill/>
          <a:ln/>
        </p:spPr>
        <p:txBody>
          <a:bodyPr wrap="square" lIns="0" tIns="0" rIns="0" bIns="0" rtlCol="0" anchor="ctr"/>
          <a:lstStyle/>
          <a:p>
            <a:pPr algn="ctr" indent="0" marL="0">
              <a:buNone/>
            </a:pPr>
            <a:r>
              <a:rPr lang="en-US" sz="1400" dirty="0">
                <a:solidFill>
                  <a:schemeClr val="accent5"/>
                </a:solidFill>
              </a:rPr>
              <a:t>Cycle intervals</a:t>
            </a:r>
            <a:endParaRPr lang="en-US" sz="1400" dirty="0"/>
          </a:p>
        </p:txBody>
      </p:sp>
      <p:sp>
        <p:nvSpPr>
          <p:cNvPr id="8" name="Stat card 2"/>
          <p:cNvSpPr/>
          <p:nvPr/>
        </p:nvSpPr>
        <p:spPr>
          <a:xfrm>
            <a:off x="3246120" y="1051560"/>
            <a:ext cx="2651760" cy="1554480"/>
          </a:xfrm>
          <a:prstGeom prst="roundRect">
            <a:avLst>
              <a:gd name="adj" fmla="val 7059"/>
            </a:avLst>
          </a:prstGeom>
          <a:solidFill>
            <a:schemeClr val="bg2"/>
          </a:solidFill>
          <a:ln/>
        </p:spPr>
      </p:sp>
      <p:sp>
        <p:nvSpPr>
          <p:cNvPr id="9" name="Stat badge 2"/>
          <p:cNvSpPr/>
          <p:nvPr/>
        </p:nvSpPr>
        <p:spPr>
          <a:xfrm>
            <a:off x="4343400" y="1143000"/>
            <a:ext cx="457200" cy="457200"/>
          </a:xfrm>
          <a:prstGeom prst="ellipse">
            <a:avLst/>
          </a:prstGeom>
          <a:solidFill>
            <a:schemeClr val="accent2"/>
          </a:solidFill>
          <a:ln/>
        </p:spPr>
      </p:sp>
      <p:sp>
        <p:nvSpPr>
          <p:cNvPr id="10" name="Text 8"/>
          <p:cNvSpPr txBox="1"/>
          <p:nvPr/>
        </p:nvSpPr>
        <p:spPr>
          <a:xfrm>
            <a:off x="4343400" y="1143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3246120" y="1645920"/>
            <a:ext cx="2651760" cy="548640"/>
          </a:xfrm>
          <a:prstGeom prst="rect">
            <a:avLst/>
          </a:prstGeom>
          <a:noFill/>
          <a:ln/>
        </p:spPr>
        <p:txBody>
          <a:bodyPr wrap="square" lIns="0" tIns="0" rIns="0" bIns="0" rtlCol="0" anchor="ctr"/>
          <a:lstStyle/>
          <a:p>
            <a:pPr algn="ctr" indent="0" marL="0">
              <a:buNone/>
            </a:pPr>
            <a:r>
              <a:rPr lang="en-US" sz="2400" b="1" dirty="0">
                <a:solidFill>
                  <a:schemeClr val="tx2"/>
                </a:solidFill>
              </a:rPr>
              <a:t>LCM = 105 min</a:t>
            </a:r>
            <a:endParaRPr lang="en-US" sz="2400" dirty="0"/>
          </a:p>
        </p:txBody>
      </p:sp>
      <p:sp>
        <p:nvSpPr>
          <p:cNvPr id="12" name="Text 10"/>
          <p:cNvSpPr txBox="1"/>
          <p:nvPr/>
        </p:nvSpPr>
        <p:spPr>
          <a:xfrm>
            <a:off x="3246120" y="2194560"/>
            <a:ext cx="2651760" cy="320040"/>
          </a:xfrm>
          <a:prstGeom prst="rect">
            <a:avLst/>
          </a:prstGeom>
          <a:noFill/>
          <a:ln/>
        </p:spPr>
        <p:txBody>
          <a:bodyPr wrap="square" lIns="0" tIns="0" rIns="0" bIns="0" rtlCol="0" anchor="ctr"/>
          <a:lstStyle/>
          <a:p>
            <a:pPr algn="ctr" indent="0" marL="0">
              <a:buNone/>
            </a:pPr>
            <a:r>
              <a:rPr lang="en-US" sz="1400" dirty="0">
                <a:solidFill>
                  <a:schemeClr val="accent5"/>
                </a:solidFill>
              </a:rPr>
              <a:t>Common recurrence</a:t>
            </a:r>
            <a:endParaRPr lang="en-US" sz="1400" dirty="0"/>
          </a:p>
        </p:txBody>
      </p:sp>
      <p:sp>
        <p:nvSpPr>
          <p:cNvPr id="13" name="Stat card 3"/>
          <p:cNvSpPr/>
          <p:nvPr/>
        </p:nvSpPr>
        <p:spPr>
          <a:xfrm>
            <a:off x="6035040" y="1051560"/>
            <a:ext cx="2651760" cy="1554480"/>
          </a:xfrm>
          <a:prstGeom prst="roundRect">
            <a:avLst>
              <a:gd name="adj" fmla="val 7059"/>
            </a:avLst>
          </a:prstGeom>
          <a:solidFill>
            <a:schemeClr val="bg2"/>
          </a:solidFill>
          <a:ln/>
        </p:spPr>
      </p:sp>
      <p:sp>
        <p:nvSpPr>
          <p:cNvPr id="14" name="Stat badge 3"/>
          <p:cNvSpPr/>
          <p:nvPr/>
        </p:nvSpPr>
        <p:spPr>
          <a:xfrm>
            <a:off x="7132320" y="1143000"/>
            <a:ext cx="457200" cy="457200"/>
          </a:xfrm>
          <a:prstGeom prst="ellipse">
            <a:avLst/>
          </a:prstGeom>
          <a:solidFill>
            <a:schemeClr val="accent3"/>
          </a:solidFill>
          <a:ln/>
        </p:spPr>
      </p:sp>
      <p:sp>
        <p:nvSpPr>
          <p:cNvPr id="15" name="Text 13"/>
          <p:cNvSpPr txBox="1"/>
          <p:nvPr/>
        </p:nvSpPr>
        <p:spPr>
          <a:xfrm>
            <a:off x="7132320" y="1143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6035040" y="1645920"/>
            <a:ext cx="2651760" cy="548640"/>
          </a:xfrm>
          <a:prstGeom prst="rect">
            <a:avLst/>
          </a:prstGeom>
          <a:noFill/>
          <a:ln/>
        </p:spPr>
        <p:txBody>
          <a:bodyPr wrap="square" lIns="0" tIns="0" rIns="0" bIns="0" rtlCol="0" anchor="ctr"/>
          <a:lstStyle/>
          <a:p>
            <a:pPr algn="ctr" indent="0" marL="0">
              <a:buNone/>
            </a:pPr>
            <a:r>
              <a:rPr lang="en-US" sz="2400" b="1" dirty="0">
                <a:solidFill>
                  <a:schemeClr val="tx2"/>
                </a:solidFill>
              </a:rPr>
              <a:t>1 h 45 min</a:t>
            </a:r>
            <a:endParaRPr lang="en-US" sz="2400" dirty="0"/>
          </a:p>
        </p:txBody>
      </p:sp>
      <p:sp>
        <p:nvSpPr>
          <p:cNvPr id="17" name="Text 15"/>
          <p:cNvSpPr txBox="1"/>
          <p:nvPr/>
        </p:nvSpPr>
        <p:spPr>
          <a:xfrm>
            <a:off x="6035040" y="2194560"/>
            <a:ext cx="2651760" cy="320040"/>
          </a:xfrm>
          <a:prstGeom prst="rect">
            <a:avLst/>
          </a:prstGeom>
          <a:noFill/>
          <a:ln/>
        </p:spPr>
        <p:txBody>
          <a:bodyPr wrap="square" lIns="0" tIns="0" rIns="0" bIns="0" rtlCol="0" anchor="ctr"/>
          <a:lstStyle/>
          <a:p>
            <a:pPr algn="ctr" indent="0" marL="0">
              <a:buNone/>
            </a:pPr>
            <a:r>
              <a:rPr lang="en-US" sz="1400" dirty="0">
                <a:solidFill>
                  <a:schemeClr val="accent5"/>
                </a:solidFill>
              </a:rPr>
              <a:t>First positive recurrence</a:t>
            </a:r>
            <a:endParaRPr lang="en-US" sz="1400" dirty="0"/>
          </a:p>
        </p:txBody>
      </p:sp>
      <p:sp>
        <p:nvSpPr>
          <p:cNvPr id="18" name="Insight panel"/>
          <p:cNvSpPr/>
          <p:nvPr/>
        </p:nvSpPr>
        <p:spPr>
          <a:xfrm>
            <a:off x="457200" y="2788920"/>
            <a:ext cx="8229600" cy="868680"/>
          </a:xfrm>
          <a:prstGeom prst="roundRect">
            <a:avLst>
              <a:gd name="adj" fmla="val 12632"/>
            </a:avLst>
          </a:prstGeom>
          <a:solidFill>
            <a:schemeClr val="tx2"/>
          </a:solidFill>
          <a:ln/>
        </p:spPr>
      </p:sp>
      <p:sp>
        <p:nvSpPr>
          <p:cNvPr id="19" name="Text 17"/>
          <p:cNvSpPr txBox="1"/>
          <p:nvPr/>
        </p:nvSpPr>
        <p:spPr>
          <a:xfrm>
            <a:off x="640080" y="2788920"/>
            <a:ext cx="7863840" cy="868680"/>
          </a:xfrm>
          <a:prstGeom prst="rect">
            <a:avLst/>
          </a:prstGeom>
          <a:noFill/>
          <a:ln/>
        </p:spPr>
        <p:txBody>
          <a:bodyPr wrap="square" lIns="0" tIns="0" rIns="0" bIns="0" rtlCol="0" anchor="ctr"/>
          <a:lstStyle/>
          <a:p>
            <a:pPr indent="0" marL="0">
              <a:spcAft>
                <a:spcPts val="200"/>
              </a:spcAft>
              <a:buNone/>
            </a:pPr>
            <a:r>
              <a:rPr lang="en-US" sz="1400" b="1" dirty="0">
                <a:solidFill>
                  <a:schemeClr val="bg1"/>
                </a:solidFill>
              </a:rPr>
              <a:t>Main insight: the common period of pairwise coprime cycles is the product of their lengths.</a:t>
            </a:r>
            <a:endParaRPr lang="en-US" sz="1400" dirty="0"/>
          </a:p>
          <a:p>
            <a:pPr indent="0" marL="0">
              <a:spcAft>
                <a:spcPts val="200"/>
              </a:spcAft>
              <a:buNone/>
            </a:pPr>
            <a:r>
              <a:rPr lang="en-US" sz="1800" b="1" dirty="0">
                <a:solidFill>
                  <a:schemeClr val="accent2"/>
                </a:solidFill>
              </a:rPr>
              <a:t>3 × 5 × 7 = 105</a:t>
            </a:r>
            <a:endParaRPr lang="en-US" sz="1400" dirty="0"/>
          </a:p>
        </p:txBody>
      </p:sp>
      <p:sp>
        <p:nvSpPr>
          <p:cNvPr id="20" name="Scope panel"/>
          <p:cNvSpPr/>
          <p:nvPr/>
        </p:nvSpPr>
        <p:spPr>
          <a:xfrm>
            <a:off x="457200" y="3794760"/>
            <a:ext cx="8229600" cy="822960"/>
          </a:xfrm>
          <a:prstGeom prst="roundRect">
            <a:avLst>
              <a:gd name="adj" fmla="val 13333"/>
            </a:avLst>
          </a:prstGeom>
          <a:solidFill>
            <a:schemeClr val="accent2">
              <a:alpha val="18000"/>
            </a:schemeClr>
          </a:solidFill>
          <a:ln/>
        </p:spPr>
      </p:sp>
      <p:sp>
        <p:nvSpPr>
          <p:cNvPr id="21" name="Text 19"/>
          <p:cNvSpPr txBox="1"/>
          <p:nvPr/>
        </p:nvSpPr>
        <p:spPr>
          <a:xfrm>
            <a:off x="640080" y="3794760"/>
            <a:ext cx="7863840" cy="822960"/>
          </a:xfrm>
          <a:prstGeom prst="rect">
            <a:avLst/>
          </a:prstGeom>
          <a:noFill/>
          <a:ln/>
        </p:spPr>
        <p:txBody>
          <a:bodyPr wrap="square" lIns="0" tIns="0" rIns="0" bIns="0" rtlCol="0" anchor="ctr"/>
          <a:lstStyle/>
          <a:p>
            <a:pPr indent="0" marL="0">
              <a:buNone/>
            </a:pPr>
            <a:r>
              <a:rPr lang="en-US" sz="1400" b="1" dirty="0">
                <a:solidFill>
                  <a:schemeClr val="tx2"/>
                </a:solidFill>
              </a:rPr>
              <a:t>Valid under the stated assumptions: every signal starts a cycle at t = 0 and repeats it every 3, 5 and 7 minutes. This is a mathematical model, not a real traffic-control result.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Conclusion</a:t>
            </a:r>
            <a:endParaRPr lang="en-US" sz="3000" dirty="0"/>
          </a:p>
        </p:txBody>
      </p:sp>
      <p:sp>
        <p:nvSpPr>
          <p:cNvPr id="3" name="Text 1"/>
          <p:cNvSpPr txBox="1"/>
          <p:nvPr/>
        </p:nvSpPr>
        <p:spPr>
          <a:xfrm>
            <a:off x="457200" y="1097280"/>
            <a:ext cx="5303520" cy="34747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bg1"/>
                </a:solidFill>
              </a:rPr>
              <a:t>Signal timing can be modeled using modular arithmetic.</a:t>
            </a:r>
            <a:endParaRPr lang="en-US" sz="1600" dirty="0"/>
          </a:p>
          <a:p>
            <a:pPr marL="342900" indent="-342900">
              <a:spcAft>
                <a:spcPts val="900"/>
              </a:spcAft>
              <a:buSzPct val="100000"/>
              <a:buChar char="•"/>
            </a:pPr>
            <a:r>
              <a:rPr lang="en-US" sz="1600" dirty="0">
                <a:solidFill>
                  <a:schemeClr val="bg1"/>
                </a:solidFill>
              </a:rPr>
              <a:t>CRT gives a framework for solving systems of congruences.</a:t>
            </a:r>
            <a:endParaRPr lang="en-US" sz="1600" dirty="0"/>
          </a:p>
          <a:p>
            <a:pPr marL="342900" indent="-342900">
              <a:spcAft>
                <a:spcPts val="900"/>
              </a:spcAft>
              <a:buSzPct val="100000"/>
              <a:buChar char="•"/>
            </a:pPr>
            <a:r>
              <a:rPr lang="en-US" sz="1600" dirty="0">
                <a:solidFill>
                  <a:schemeClr val="bg1"/>
                </a:solidFill>
              </a:rPr>
              <a:t>In our zero-remainder example, the LCM gives the first positive recurrence: 105 minutes.</a:t>
            </a:r>
            <a:endParaRPr lang="en-US" sz="1600" dirty="0"/>
          </a:p>
          <a:p>
            <a:pPr marL="342900" indent="-342900">
              <a:spcAft>
                <a:spcPts val="900"/>
              </a:spcAft>
              <a:buSzPct val="100000"/>
              <a:buChar char="•"/>
            </a:pPr>
            <a:r>
              <a:rPr lang="en-US" sz="1600" dirty="0">
                <a:solidFill>
                  <a:schemeClr val="bg1"/>
                </a:solidFill>
              </a:rPr>
              <a:t>The result is relevant to synchronization problems.</a:t>
            </a:r>
            <a:endParaRPr lang="en-US" sz="1600" dirty="0"/>
          </a:p>
          <a:p>
            <a:pPr marL="342900" indent="-342900">
              <a:spcAft>
                <a:spcPts val="900"/>
              </a:spcAft>
              <a:buSzPct val="100000"/>
              <a:buChar char="•"/>
            </a:pPr>
            <a:r>
              <a:rPr lang="en-US" sz="1600" dirty="0">
                <a:solidFill>
                  <a:schemeClr val="bg1"/>
                </a:solidFill>
              </a:rPr>
              <a:t>Real traffic optimization needs a more comprehensive model.</a:t>
            </a:r>
            <a:endParaRPr lang="en-US" sz="1600" dirty="0"/>
          </a:p>
        </p:txBody>
      </p:sp>
      <p:sp>
        <p:nvSpPr>
          <p:cNvPr id="4" name="Closing light housing"/>
          <p:cNvSpPr/>
          <p:nvPr/>
        </p:nvSpPr>
        <p:spPr>
          <a:xfrm>
            <a:off x="6949440" y="1097280"/>
            <a:ext cx="822960" cy="2103120"/>
          </a:xfrm>
          <a:prstGeom prst="roundRect">
            <a:avLst>
              <a:gd name="adj" fmla="val 30000"/>
            </a:avLst>
          </a:prstGeom>
          <a:solidFill>
            <a:schemeClr val="tx1"/>
          </a:solidFill>
          <a:ln w="19050">
            <a:solidFill>
              <a:schemeClr val="bg1"/>
            </a:solidFill>
            <a:prstDash val="solid"/>
          </a:ln>
        </p:spPr>
      </p:sp>
      <p:sp>
        <p:nvSpPr>
          <p:cNvPr id="5" name="Closing light red"/>
          <p:cNvSpPr/>
          <p:nvPr/>
        </p:nvSpPr>
        <p:spPr>
          <a:xfrm>
            <a:off x="7105802" y="1262786"/>
            <a:ext cx="510235" cy="510235"/>
          </a:xfrm>
          <a:prstGeom prst="ellipse">
            <a:avLst/>
          </a:prstGeom>
          <a:solidFill>
            <a:schemeClr val="accent1">
              <a:alpha val="22000"/>
            </a:schemeClr>
          </a:solidFill>
          <a:ln/>
        </p:spPr>
      </p:sp>
      <p:sp>
        <p:nvSpPr>
          <p:cNvPr id="6" name="Closing light amber"/>
          <p:cNvSpPr/>
          <p:nvPr/>
        </p:nvSpPr>
        <p:spPr>
          <a:xfrm>
            <a:off x="7105802" y="1893722"/>
            <a:ext cx="510235" cy="510235"/>
          </a:xfrm>
          <a:prstGeom prst="ellipse">
            <a:avLst/>
          </a:prstGeom>
          <a:solidFill>
            <a:schemeClr val="accent2">
              <a:alpha val="22000"/>
            </a:schemeClr>
          </a:solidFill>
          <a:ln/>
        </p:spPr>
      </p:sp>
      <p:sp>
        <p:nvSpPr>
          <p:cNvPr id="7" name="Closing light green"/>
          <p:cNvSpPr/>
          <p:nvPr/>
        </p:nvSpPr>
        <p:spPr>
          <a:xfrm>
            <a:off x="7105802" y="2524658"/>
            <a:ext cx="510235" cy="510235"/>
          </a:xfrm>
          <a:prstGeom prst="ellipse">
            <a:avLst/>
          </a:prstGeom>
          <a:solidFill>
            <a:schemeClr val="accent3"/>
          </a:solidFill>
          <a:ln/>
        </p:spPr>
      </p:sp>
      <p:sp>
        <p:nvSpPr>
          <p:cNvPr id="8" name="Text 6"/>
          <p:cNvSpPr txBox="1"/>
          <p:nvPr/>
        </p:nvSpPr>
        <p:spPr>
          <a:xfrm>
            <a:off x="5852160" y="3474720"/>
            <a:ext cx="3017520" cy="731520"/>
          </a:xfrm>
          <a:prstGeom prst="rect">
            <a:avLst/>
          </a:prstGeom>
          <a:noFill/>
          <a:ln/>
        </p:spPr>
        <p:txBody>
          <a:bodyPr wrap="square" lIns="0" tIns="0" rIns="0" bIns="0" rtlCol="0" anchor="ctr"/>
          <a:lstStyle/>
          <a:p>
            <a:pPr algn="ctr" indent="0" marL="0">
              <a:buNone/>
            </a:pPr>
            <a:r>
              <a:rPr lang="en-US" sz="3400" b="1" dirty="0">
                <a:solidFill>
                  <a:schemeClr val="accent2"/>
                </a:solidFill>
              </a:rPr>
              <a:t>Thank You</a:t>
            </a:r>
            <a:endParaRPr lang="en-US" sz="3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raffic CRT">
  <a:themeElements>
    <a:clrScheme name="Traffic CRT">
      <a:dk1>
        <a:srgbClr val="1F2937"/>
      </a:dk1>
      <a:lt1>
        <a:srgbClr val="FFFFFF"/>
      </a:lt1>
      <a:dk2>
        <a:srgbClr val="14213D"/>
      </a:dk2>
      <a:lt2>
        <a:srgbClr val="F1F5FB"/>
      </a:lt2>
      <a:accent1>
        <a:srgbClr val="E63946"/>
      </a:accent1>
      <a:accent2>
        <a:srgbClr val="F4B400"/>
      </a:accent2>
      <a:accent3>
        <a:srgbClr val="2E9E5B"/>
      </a:accent3>
      <a:accent4>
        <a:srgbClr val="2A6FDB"/>
      </a:accent4>
      <a:accent5>
        <a:srgbClr val="5B6575"/>
      </a:accent5>
      <a:accent6>
        <a:srgbClr val="0E9F9E"/>
      </a:accent6>
      <a:hlink>
        <a:srgbClr val="2A6FDB"/>
      </a:hlink>
      <a:folHlink>
        <a:srgbClr val="5B6575"/>
      </a:folHlink>
    </a:clrScheme>
    <a:fontScheme name="Traffic C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Signal Synchronization using the Chinese Remainder Theorem</dc:title>
  <dc:subject>PptxGenJS Presentation</dc:subject>
  <dc:creator>PptxGenJS</dc:creator>
  <cp:lastModifiedBy>PptxGenJS</cp:lastModifiedBy>
  <cp:revision>1</cp:revision>
  <dcterms:created xsi:type="dcterms:W3CDTF">2026-10-15T05:56:03Z</dcterms:created>
  <dcterms:modified xsi:type="dcterms:W3CDTF">2026-10-15T05:56:03Z</dcterms:modified>
</cp:coreProperties>
</file>